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447675" y="447675"/>
            <a:ext cx="11296650" cy="5962650"/>
          </a:xfrm>
          <a:custGeom>
            <a:avLst/>
            <a:gdLst/>
            <a:ahLst/>
            <a:cxnLst/>
            <a:rect l="l" t="t" r="r" b="b"/>
            <a:pathLst>
              <a:path w="11296650" h="5962650">
                <a:moveTo>
                  <a:pt x="0" y="0"/>
                </a:moveTo>
                <a:lnTo>
                  <a:pt x="11296650" y="0"/>
                </a:lnTo>
                <a:lnTo>
                  <a:pt x="11296650" y="5962650"/>
                </a:lnTo>
                <a:lnTo>
                  <a:pt x="0" y="5962650"/>
                </a:lnTo>
                <a:close/>
              </a:path>
            </a:pathLst>
          </a:custGeom>
          <a:solidFill>
            <a:srgbClr val="E9ECEF"/>
          </a:solidFill>
          <a:ln w="19050">
            <a:solidFill>
              <a:srgbClr val="DEE2E6"/>
            </a:solidFill>
          </a:ln>
        </p:spPr>
      </p:sp>
      <p:sp>
        <p:nvSpPr>
          <p:cNvPr id="4" name="Ellipse 4"/>
          <p:cNvSpPr/>
          <p:nvPr/>
        </p:nvSpPr>
        <p:spPr>
          <a:xfrm>
            <a:off x="4953000" y="2286000"/>
            <a:ext cx="2286000" cy="2286000"/>
          </a:xfrm>
          <a:prstGeom prst="ellipse">
            <a:avLst/>
          </a:prstGeom>
          <a:solidFill>
            <a:srgbClr val="0066CC">
              <a:alpha val="8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3619500" y="952500"/>
            <a:ext cx="4953000" cy="4953000"/>
          </a:xfrm>
          <a:custGeom>
            <a:avLst/>
            <a:gdLst/>
            <a:ahLst/>
            <a:cxnLst/>
            <a:rect l="l" t="t" r="r" b="b"/>
            <a:pathLst>
              <a:path w="4953000" h="4953000">
                <a:moveTo>
                  <a:pt x="2476500" y="0"/>
                </a:moveTo>
                <a:cubicBezTo>
                  <a:pt x="1108767" y="0"/>
                  <a:pt x="0" y="1108767"/>
                  <a:pt x="0" y="2476500"/>
                </a:cubicBezTo>
                <a:cubicBezTo>
                  <a:pt x="0" y="3844233"/>
                  <a:pt x="1108767" y="4953000"/>
                  <a:pt x="2476500" y="4953000"/>
                </a:cubicBezTo>
                <a:cubicBezTo>
                  <a:pt x="3844233" y="4953000"/>
                  <a:pt x="4953000" y="3844233"/>
                  <a:pt x="4953000" y="2476500"/>
                </a:cubicBezTo>
                <a:cubicBezTo>
                  <a:pt x="4953000" y="1108767"/>
                  <a:pt x="3844233" y="0"/>
                  <a:pt x="2476500" y="0"/>
                </a:cubicBezTo>
                <a:close/>
                <a:moveTo>
                  <a:pt x="2476500" y="1333500"/>
                </a:moveTo>
                <a:cubicBezTo>
                  <a:pt x="3107761" y="1333500"/>
                  <a:pt x="3619500" y="1845239"/>
                  <a:pt x="3619500" y="2476500"/>
                </a:cubicBezTo>
                <a:cubicBezTo>
                  <a:pt x="3619500" y="3107761"/>
                  <a:pt x="3107761" y="3619500"/>
                  <a:pt x="2476500" y="3619500"/>
                </a:cubicBezTo>
                <a:cubicBezTo>
                  <a:pt x="1845239" y="3619500"/>
                  <a:pt x="1333500" y="3107761"/>
                  <a:pt x="1333500" y="2476500"/>
                </a:cubicBezTo>
                <a:cubicBezTo>
                  <a:pt x="1333500" y="1845239"/>
                  <a:pt x="1845239" y="1333500"/>
                  <a:pt x="2476500" y="1333500"/>
                </a:cubicBezTo>
                <a:close/>
              </a:path>
            </a:pathLst>
          </a:custGeom>
          <a:solidFill>
            <a:srgbClr val="FF4D4D">
              <a:alpha val="30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762000" y="762000"/>
            <a:ext cx="3429000" cy="2667000"/>
          </a:xfrm>
          <a:prstGeom prst="rect">
            <a:avLst/>
          </a:prstGeom>
          <a:solidFill>
            <a:srgbClr val="F8F9FA"/>
          </a:solidFill>
          <a:ln w="9525">
            <a:solidFill>
              <a:srgbClr val="E9ECE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67740" y="1024890"/>
            <a:ext cx="2488625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85,000+ RESIDENTS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7740" y="1253490"/>
            <a:ext cx="270945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CURRENTLY UNSERVED</a:t>
            </a:r>
          </a:p>
        </p:txBody>
      </p:sp>
      <p:sp>
        <p:nvSpPr>
          <p:cNvPr id="9" name="Rectangle 9"/>
          <p:cNvSpPr/>
          <p:nvPr/>
        </p:nvSpPr>
        <p:spPr>
          <a:xfrm>
            <a:off x="990600" y="1762125"/>
            <a:ext cx="2971800" cy="9525"/>
          </a:xfrm>
          <a:prstGeom prst="rect">
            <a:avLst/>
          </a:prstGeom>
          <a:solidFill>
            <a:srgbClr val="DEE2E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77265" y="2020252"/>
            <a:ext cx="22648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High density of disconnected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77265" y="2172652"/>
            <a:ext cx="17495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suburban settlements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77265" y="2477452"/>
            <a:ext cx="1612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Critical gap in public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7265" y="2706052"/>
            <a:ext cx="1363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transit coverage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62000" y="5486400"/>
            <a:ext cx="2133600" cy="838200"/>
          </a:xfrm>
          <a:prstGeom prst="rect">
            <a:avLst/>
          </a:prstGeom>
          <a:solidFill>
            <a:srgbClr val="F8F9FA"/>
          </a:solidFill>
          <a:ln w="9525">
            <a:solidFill>
              <a:srgbClr val="E9ECEF"/>
            </a:solidFill>
          </a:ln>
        </p:spPr>
      </p:sp>
      <p:sp>
        <p:nvSpPr>
          <p:cNvPr id="15" name="Ellipse 15"/>
          <p:cNvSpPr/>
          <p:nvPr/>
        </p:nvSpPr>
        <p:spPr>
          <a:xfrm>
            <a:off x="923925" y="5686425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207770" y="5694045"/>
            <a:ext cx="7852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Served Area</a:t>
            </a:r>
          </a:p>
        </p:txBody>
      </p:sp>
      <p:sp>
        <p:nvSpPr>
          <p:cNvPr id="17" name="Ellipse 17"/>
          <p:cNvSpPr/>
          <p:nvPr/>
        </p:nvSpPr>
        <p:spPr>
          <a:xfrm>
            <a:off x="923925" y="5972175"/>
            <a:ext cx="152400" cy="152400"/>
          </a:xfrm>
          <a:prstGeom prst="ellipse">
            <a:avLst/>
          </a:prstGeom>
          <a:solidFill>
            <a:srgbClr val="FF4D4D">
              <a:alpha val="50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207770" y="5998845"/>
            <a:ext cx="12584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Unserved Periphery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34340" y="643890"/>
            <a:ext cx="542839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BUILDING A CONTINUOUS TRANSIT BACKBONE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143000"/>
            <a:ext cx="6172200" cy="52578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1428750" y="1428750"/>
            <a:ext cx="4286250" cy="3810000"/>
            <a:chOff x="1428750" y="1428750"/>
            <a:chExt cx="4286250" cy="3810000"/>
          </a:xfrm>
        </p:grpSpPr>
        <p:sp>
          <p:nvSpPr>
            <p:cNvPr id="5" name="Freeform 5"/>
            <p:cNvSpPr/>
            <p:nvPr/>
          </p:nvSpPr>
          <p:spPr>
            <a:xfrm>
              <a:off x="1428750" y="2381250"/>
              <a:ext cx="4286250" cy="1428750"/>
            </a:xfrm>
            <a:custGeom>
              <a:avLst/>
              <a:gdLst/>
              <a:ahLst/>
              <a:cxnLst/>
              <a:rect l="l" t="t" r="r" b="b"/>
              <a:pathLst>
                <a:path w="4286250" h="1428750">
                  <a:moveTo>
                    <a:pt x="0" y="0"/>
                  </a:moveTo>
                  <a:lnTo>
                    <a:pt x="1905000" y="0"/>
                  </a:lnTo>
                  <a:lnTo>
                    <a:pt x="2857500" y="1428750"/>
                  </a:lnTo>
                  <a:lnTo>
                    <a:pt x="4286250" y="1428750"/>
                  </a:lnTo>
                </a:path>
              </a:pathLst>
            </a:custGeom>
            <a:noFill/>
            <a:ln w="38100" cap="rnd">
              <a:solidFill>
                <a:srgbClr val="D1D1D1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2381250" y="142875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38100" cap="rnd">
              <a:solidFill>
                <a:srgbClr val="D1D1D1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4286250" y="3810000"/>
              <a:ext cx="952500" cy="1428750"/>
            </a:xfrm>
            <a:custGeom>
              <a:avLst/>
              <a:gdLst/>
              <a:ahLst/>
              <a:cxnLst/>
              <a:rect l="l" t="t" r="r" b="b"/>
              <a:pathLst>
                <a:path w="952500" h="1428750">
                  <a:moveTo>
                    <a:pt x="0" y="0"/>
                  </a:moveTo>
                  <a:lnTo>
                    <a:pt x="952500" y="1428750"/>
                  </a:lnTo>
                </a:path>
              </a:pathLst>
            </a:custGeom>
            <a:noFill/>
            <a:ln w="38100" cap="rnd">
              <a:solidFill>
                <a:srgbClr val="0066CC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333750" y="2381250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38100" cap="rnd">
              <a:solidFill>
                <a:srgbClr val="0066CC"/>
              </a:solidFill>
            </a:ln>
          </p:spPr>
        </p:sp>
      </p:grpSp>
      <p:sp>
        <p:nvSpPr>
          <p:cNvPr id="10" name="Ellipse 10"/>
          <p:cNvSpPr/>
          <p:nvPr/>
        </p:nvSpPr>
        <p:spPr>
          <a:xfrm>
            <a:off x="2305050" y="230505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4210050" y="373380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5162550" y="5162550"/>
            <a:ext cx="152400" cy="15240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00075" y="6091238"/>
            <a:ext cx="374880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Proposed network expansion (Blue) vs existing infrastructure (Grey)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934200" y="1143000"/>
            <a:ext cx="4800600" cy="2438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149465" y="1486852"/>
            <a:ext cx="1709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INTEGRATION STRATEGY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51370" y="1807845"/>
            <a:ext cx="77715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Integrating existing BRT corridors with new dedicated bus lanes</a:t>
            </a:r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to eliminate bottlenecks and ensure seamless transfers.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934200" y="3810000"/>
            <a:ext cx="4800600" cy="25908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49465" y="4153852"/>
            <a:ext cx="12826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NETWORK IMPACT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151370" y="4474845"/>
            <a:ext cx="1025585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• Focus on network connectivity across urban zones.</a:t>
            </a:r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• Reduced intervals through synchronized scheduling.</a:t>
            </a:r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• Enhanced passenger throughput during peak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447675" y="447675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34340" y="643890"/>
            <a:ext cx="397921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2026 MICROMOBILITY ROADMAP</a:t>
            </a:r>
          </a:p>
        </p:txBody>
      </p:sp>
      <p:sp>
        <p:nvSpPr>
          <p:cNvPr id="4" name="Rectangle 4"/>
          <p:cNvSpPr/>
          <p:nvPr/>
        </p:nvSpPr>
        <p:spPr>
          <a:xfrm>
            <a:off x="457200" y="1219200"/>
            <a:ext cx="5486400" cy="2438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6248400" y="1219200"/>
            <a:ext cx="5486400" cy="2438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457200" y="3886200"/>
            <a:ext cx="5486400" cy="2438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6248400" y="3886200"/>
            <a:ext cx="5486400" cy="2438400"/>
          </a:xfrm>
          <a:prstGeom prst="rect">
            <a:avLst/>
          </a:prstGeom>
          <a:solidFill>
            <a:srgbClr val="F8F9FA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2465" y="1563052"/>
            <a:ext cx="12262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INFRASTRUCTURE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3890" y="1853565"/>
            <a:ext cx="1298372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55km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4370" y="2341245"/>
            <a:ext cx="16199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New protected bike lanes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6275" y="2586038"/>
            <a:ext cx="251102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Expanding connectivity across urban corridors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39865" y="1563052"/>
            <a:ext cx="10088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PARKING HUBS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511290" y="185356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200+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1770" y="23412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Dedicated parking zones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43675" y="2586038"/>
            <a:ext cx="240696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Reducing sidewalk clutter and improving flow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2465" y="4230052"/>
            <a:ext cx="9444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REGULATORY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3890" y="4520565"/>
            <a:ext cx="1070643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100%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4370" y="5084445"/>
            <a:ext cx="15213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Digital plate compliance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6275" y="5253038"/>
            <a:ext cx="244530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Enhanced tracking and identification systems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39865" y="4230052"/>
            <a:ext cx="1137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USER FEEDBACK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511290" y="452056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0066CC"/>
                </a:solidFill>
                <a:latin typeface="Google Sans"/>
                <a:ea typeface="Microsoft YaHei"/>
                <a:cs typeface="Google Sans"/>
              </a:rPr>
              <a:t>24/7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541770" y="5084445"/>
            <a:ext cx="15739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A1A1A"/>
                </a:solidFill>
                <a:latin typeface="Google Sans"/>
                <a:ea typeface="Microsoft YaHei"/>
                <a:cs typeface="Google Sans"/>
              </a:rPr>
              <a:t>Automated bot response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43675" y="5253038"/>
            <a:ext cx="217693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808080"/>
                </a:solidFill>
                <a:latin typeface="Google Sans"/>
                <a:ea typeface="Microsoft YaHei"/>
                <a:cs typeface="Google Sans"/>
              </a:rPr>
              <a:t>Real-time issue reporting and resolution</a:t>
            </a:r>
          </a:p>
        </p:txBody>
      </p:sp>
      <p:sp>
        <p:nvSpPr>
          <p:cNvPr id="24" name="Freeform 24"/>
          <p:cNvSpPr/>
          <p:nvPr/>
        </p:nvSpPr>
        <p:spPr>
          <a:xfrm>
            <a:off x="5238750" y="1619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11049000" y="1619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6" name="Freeform 26"/>
          <p:cNvSpPr/>
          <p:nvPr/>
        </p:nvSpPr>
        <p:spPr>
          <a:xfrm>
            <a:off x="5238750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27" name="Freeform 27"/>
          <p:cNvSpPr/>
          <p:nvPr/>
        </p:nvSpPr>
        <p:spPr>
          <a:xfrm>
            <a:off x="11049000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0"/>
                </a:moveTo>
                <a:lnTo>
                  <a:pt x="285750" y="0"/>
                </a:lnTo>
                <a:lnTo>
                  <a:pt x="285750" y="285750"/>
                </a:lnTo>
                <a:lnTo>
                  <a:pt x="0" y="285750"/>
                </a:lnTo>
                <a:close/>
              </a:path>
            </a:pathLst>
          </a:custGeom>
          <a:noFill/>
          <a:ln w="19050">
            <a:solidFill>
              <a:srgbClr val="0066CC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
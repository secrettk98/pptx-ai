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47" d="100"/>
          <a:sy n="147" d="100"/>
        </p:scale>
        <p:origin x="696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447675" y="447675"/>
            <a:ext cx="11296650" cy="5962650"/>
          </a:xfrm>
          <a:custGeom>
            <a:avLst/>
            <a:gdLst/>
            <a:ahLst/>
            <a:cxnLst/>
            <a:rect l="l" t="t" r="r" b="b"/>
            <a:pathLst>
              <a:path w="11296650" h="5962650">
                <a:moveTo>
                  <a:pt x="0" y="0"/>
                </a:moveTo>
                <a:lnTo>
                  <a:pt x="11296650" y="0"/>
                </a:lnTo>
                <a:lnTo>
                  <a:pt x="11296650" y="5962650"/>
                </a:lnTo>
                <a:lnTo>
                  <a:pt x="0" y="5962650"/>
                </a:lnTo>
                <a:close/>
              </a:path>
            </a:pathLst>
          </a:custGeom>
          <a:solidFill>
            <a:srgbClr val="E9ECEF"/>
          </a:solidFill>
          <a:ln w="19050">
            <a:solidFill>
              <a:srgbClr val="DEE2E6"/>
            </a:solidFill>
          </a:ln>
        </p:spPr>
      </p:sp>
      <p:sp>
        <p:nvSpPr>
          <p:cNvPr id="4" name="Ellipse 4"/>
          <p:cNvSpPr/>
          <p:nvPr/>
        </p:nvSpPr>
        <p:spPr>
          <a:xfrm>
            <a:off x="4953000" y="2286000"/>
            <a:ext cx="2286000" cy="2286000"/>
          </a:xfrm>
          <a:prstGeom prst="ellipse">
            <a:avLst/>
          </a:prstGeom>
          <a:solidFill>
            <a:srgbClr val="0066CC">
              <a:alpha val="80000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3619500" y="952500"/>
            <a:ext cx="4953000" cy="4953000"/>
          </a:xfrm>
          <a:custGeom>
            <a:avLst/>
            <a:gdLst/>
            <a:ahLst/>
            <a:cxnLst/>
            <a:rect l="l" t="t" r="r" b="b"/>
            <a:pathLst>
              <a:path w="4953000" h="4953000">
                <a:moveTo>
                  <a:pt x="2476500" y="0"/>
                </a:moveTo>
                <a:cubicBezTo>
                  <a:pt x="1108767" y="0"/>
                  <a:pt x="0" y="1108767"/>
                  <a:pt x="0" y="2476500"/>
                </a:cubicBezTo>
                <a:cubicBezTo>
                  <a:pt x="0" y="3844233"/>
                  <a:pt x="1108767" y="4953000"/>
                  <a:pt x="2476500" y="4953000"/>
                </a:cubicBezTo>
                <a:cubicBezTo>
                  <a:pt x="3844233" y="4953000"/>
                  <a:pt x="4953000" y="3844233"/>
                  <a:pt x="4953000" y="2476500"/>
                </a:cubicBezTo>
                <a:cubicBezTo>
                  <a:pt x="4953000" y="1108767"/>
                  <a:pt x="3844233" y="0"/>
                  <a:pt x="2476500" y="0"/>
                </a:cubicBezTo>
                <a:close/>
                <a:moveTo>
                  <a:pt x="2476500" y="1333500"/>
                </a:moveTo>
                <a:cubicBezTo>
                  <a:pt x="3107761" y="1333500"/>
                  <a:pt x="3619500" y="1845239"/>
                  <a:pt x="3619500" y="2476500"/>
                </a:cubicBezTo>
                <a:cubicBezTo>
                  <a:pt x="3619500" y="3107761"/>
                  <a:pt x="3107761" y="3619500"/>
                  <a:pt x="2476500" y="3619500"/>
                </a:cubicBezTo>
                <a:cubicBezTo>
                  <a:pt x="1845239" y="3619500"/>
                  <a:pt x="1333500" y="3107761"/>
                  <a:pt x="1333500" y="2476500"/>
                </a:cubicBezTo>
                <a:cubicBezTo>
                  <a:pt x="1333500" y="1845239"/>
                  <a:pt x="1845239" y="1333500"/>
                  <a:pt x="2476500" y="1333500"/>
                </a:cubicBezTo>
                <a:close/>
              </a:path>
            </a:pathLst>
          </a:custGeom>
          <a:solidFill>
            <a:srgbClr val="FF4D4D">
              <a:alpha val="30000"/>
            </a:srgbClr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762000" y="762000"/>
            <a:ext cx="3429000" cy="2667000"/>
          </a:xfrm>
          <a:prstGeom prst="rect">
            <a:avLst/>
          </a:prstGeom>
          <a:solidFill>
            <a:srgbClr val="F8F9FA"/>
          </a:solidFill>
          <a:ln w="9525">
            <a:solidFill>
              <a:srgbClr val="E9ECEF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967740" y="996315"/>
            <a:ext cx="2488625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85,000+ RESIDENTS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67740" y="1282065"/>
            <a:ext cx="2709453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0066CC"/>
                </a:solidFill>
                <a:latin typeface="Google Sans"/>
                <a:ea typeface="Microsoft YaHei"/>
                <a:cs typeface="Google Sans"/>
              </a:rPr>
              <a:t>CURRENTLY UNSERVED</a:t>
            </a:r>
          </a:p>
        </p:txBody>
      </p:sp>
      <p:sp>
        <p:nvSpPr>
          <p:cNvPr id="9" name="Rectangle 9"/>
          <p:cNvSpPr/>
          <p:nvPr/>
        </p:nvSpPr>
        <p:spPr>
          <a:xfrm>
            <a:off x="990600" y="1762125"/>
            <a:ext cx="2971800" cy="9525"/>
          </a:xfrm>
          <a:prstGeom prst="rect">
            <a:avLst/>
          </a:prstGeom>
          <a:solidFill>
            <a:srgbClr val="DEE2E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977265" y="1982152"/>
            <a:ext cx="226485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High density of disconnected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77265" y="2153602"/>
            <a:ext cx="17495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suburban settlements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77265" y="2506028"/>
            <a:ext cx="161271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Critical gap in public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77265" y="2677478"/>
            <a:ext cx="136313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transit coverage</a:t>
            </a:r>
          </a:p>
        </p:txBody>
      </p:sp>
      <p:sp>
        <p:nvSpPr>
          <p:cNvPr id="14" name="Rectangle 14"/>
          <p:cNvSpPr/>
          <p:nvPr/>
        </p:nvSpPr>
        <p:spPr>
          <a:xfrm>
            <a:off x="762000" y="5524500"/>
            <a:ext cx="2095500" cy="857250"/>
          </a:xfrm>
          <a:prstGeom prst="rect">
            <a:avLst/>
          </a:prstGeom>
          <a:solidFill>
            <a:srgbClr val="F8F9FA"/>
          </a:solidFill>
          <a:ln w="9525">
            <a:solidFill>
              <a:srgbClr val="E9ECEF"/>
            </a:solidFill>
          </a:ln>
        </p:spPr>
      </p:sp>
      <p:sp>
        <p:nvSpPr>
          <p:cNvPr id="15" name="Ellipse 15"/>
          <p:cNvSpPr/>
          <p:nvPr/>
        </p:nvSpPr>
        <p:spPr>
          <a:xfrm>
            <a:off x="923925" y="5686425"/>
            <a:ext cx="152400" cy="15240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1179195" y="5713095"/>
            <a:ext cx="78524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Served Area</a:t>
            </a:r>
          </a:p>
        </p:txBody>
      </p:sp>
      <p:sp>
        <p:nvSpPr>
          <p:cNvPr id="17" name="Ellipse 17"/>
          <p:cNvSpPr/>
          <p:nvPr/>
        </p:nvSpPr>
        <p:spPr>
          <a:xfrm>
            <a:off x="923925" y="5972175"/>
            <a:ext cx="152400" cy="152400"/>
          </a:xfrm>
          <a:prstGeom prst="ellipse">
            <a:avLst/>
          </a:prstGeom>
          <a:solidFill>
            <a:srgbClr val="FF4D4D">
              <a:alpha val="50000"/>
            </a:srgbClr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1179195" y="5998845"/>
            <a:ext cx="125844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Unserved Periphery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24815" y="615315"/>
            <a:ext cx="5428393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BUILDING A CONTINUOUS TRANSIT BACKBONE</a:t>
            </a:r>
          </a:p>
        </p:txBody>
      </p:sp>
      <p:sp>
        <p:nvSpPr>
          <p:cNvPr id="4" name="Rectangle 4"/>
          <p:cNvSpPr/>
          <p:nvPr/>
        </p:nvSpPr>
        <p:spPr>
          <a:xfrm>
            <a:off x="447675" y="1143000"/>
            <a:ext cx="6191250" cy="5267325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1428750" y="1428750"/>
            <a:ext cx="4286250" cy="3810000"/>
            <a:chOff x="1428750" y="1428750"/>
            <a:chExt cx="4286250" cy="3810000"/>
          </a:xfrm>
        </p:grpSpPr>
        <p:sp>
          <p:nvSpPr>
            <p:cNvPr id="5" name="Freeform 5"/>
            <p:cNvSpPr/>
            <p:nvPr/>
          </p:nvSpPr>
          <p:spPr>
            <a:xfrm>
              <a:off x="1428750" y="2381250"/>
              <a:ext cx="4286250" cy="1428750"/>
            </a:xfrm>
            <a:custGeom>
              <a:avLst/>
              <a:gdLst/>
              <a:ahLst/>
              <a:cxnLst/>
              <a:rect l="l" t="t" r="r" b="b"/>
              <a:pathLst>
                <a:path w="4286250" h="1428750">
                  <a:moveTo>
                    <a:pt x="0" y="0"/>
                  </a:moveTo>
                  <a:lnTo>
                    <a:pt x="1905000" y="0"/>
                  </a:lnTo>
                  <a:lnTo>
                    <a:pt x="2857500" y="1428750"/>
                  </a:lnTo>
                  <a:lnTo>
                    <a:pt x="4286250" y="1428750"/>
                  </a:lnTo>
                </a:path>
              </a:pathLst>
            </a:custGeom>
            <a:noFill/>
            <a:ln w="38100" cap="rnd">
              <a:solidFill>
                <a:srgbClr val="D1D1D1"/>
              </a:solidFill>
            </a:ln>
          </p:spPr>
        </p:sp>
        <p:sp>
          <p:nvSpPr>
            <p:cNvPr id="6" name="Freeform 6"/>
            <p:cNvSpPr/>
            <p:nvPr/>
          </p:nvSpPr>
          <p:spPr>
            <a:xfrm>
              <a:off x="2381250" y="1428750"/>
              <a:ext cx="9525" cy="3810000"/>
            </a:xfrm>
            <a:custGeom>
              <a:avLst/>
              <a:gdLst/>
              <a:ahLst/>
              <a:cxnLst/>
              <a:rect l="l" t="t" r="r" b="b"/>
              <a:pathLst>
                <a:path w="9525" h="3810000">
                  <a:moveTo>
                    <a:pt x="0" y="0"/>
                  </a:moveTo>
                  <a:lnTo>
                    <a:pt x="0" y="3810000"/>
                  </a:lnTo>
                </a:path>
              </a:pathLst>
            </a:custGeom>
            <a:noFill/>
            <a:ln w="38100" cap="rnd">
              <a:solidFill>
                <a:srgbClr val="D1D1D1"/>
              </a:solidFill>
            </a:ln>
          </p:spPr>
        </p:sp>
        <p:sp>
          <p:nvSpPr>
            <p:cNvPr id="7" name="Freeform 7"/>
            <p:cNvSpPr/>
            <p:nvPr/>
          </p:nvSpPr>
          <p:spPr>
            <a:xfrm>
              <a:off x="4286250" y="3810000"/>
              <a:ext cx="952500" cy="1428750"/>
            </a:xfrm>
            <a:custGeom>
              <a:avLst/>
              <a:gdLst/>
              <a:ahLst/>
              <a:cxnLst/>
              <a:rect l="l" t="t" r="r" b="b"/>
              <a:pathLst>
                <a:path w="952500" h="1428750">
                  <a:moveTo>
                    <a:pt x="0" y="0"/>
                  </a:moveTo>
                  <a:lnTo>
                    <a:pt x="952500" y="1428750"/>
                  </a:lnTo>
                </a:path>
              </a:pathLst>
            </a:custGeom>
            <a:noFill/>
            <a:ln w="38100" cap="rnd">
              <a:solidFill>
                <a:srgbClr val="0066CC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333750" y="2381250"/>
              <a:ext cx="1428750" cy="9525"/>
            </a:xfrm>
            <a:custGeom>
              <a:avLst/>
              <a:gdLst/>
              <a:ahLst/>
              <a:cxnLst/>
              <a:rect l="l" t="t" r="r" b="b"/>
              <a:pathLst>
                <a:path w="1428750" h="9525">
                  <a:moveTo>
                    <a:pt x="0" y="0"/>
                  </a:moveTo>
                  <a:lnTo>
                    <a:pt x="1428750" y="0"/>
                  </a:lnTo>
                </a:path>
              </a:pathLst>
            </a:custGeom>
            <a:noFill/>
            <a:ln w="38100" cap="rnd">
              <a:solidFill>
                <a:srgbClr val="0066CC"/>
              </a:solidFill>
            </a:ln>
          </p:spPr>
        </p:sp>
      </p:grpSp>
      <p:sp>
        <p:nvSpPr>
          <p:cNvPr id="10" name="Ellipse 10"/>
          <p:cNvSpPr/>
          <p:nvPr/>
        </p:nvSpPr>
        <p:spPr>
          <a:xfrm>
            <a:off x="2305050" y="2305050"/>
            <a:ext cx="152400" cy="15240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1" name="Ellipse 11"/>
          <p:cNvSpPr/>
          <p:nvPr/>
        </p:nvSpPr>
        <p:spPr>
          <a:xfrm>
            <a:off x="4210050" y="3733800"/>
            <a:ext cx="152400" cy="15240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2" name="Ellipse 12"/>
          <p:cNvSpPr/>
          <p:nvPr/>
        </p:nvSpPr>
        <p:spPr>
          <a:xfrm>
            <a:off x="5162550" y="5162550"/>
            <a:ext cx="152400" cy="15240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561975" y="6110288"/>
            <a:ext cx="374880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808080"/>
                </a:solidFill>
                <a:latin typeface="Google Sans"/>
                <a:ea typeface="Microsoft YaHei"/>
                <a:cs typeface="Google Sans"/>
              </a:rPr>
              <a:t>Proposed network expansion (Blue) vs existing infrastructure (Grey)</a:t>
            </a:r>
          </a:p>
        </p:txBody>
      </p:sp>
      <p:sp>
        <p:nvSpPr>
          <p:cNvPr id="14" name="Rectangle 14"/>
          <p:cNvSpPr/>
          <p:nvPr/>
        </p:nvSpPr>
        <p:spPr>
          <a:xfrm>
            <a:off x="6924675" y="1143000"/>
            <a:ext cx="4819650" cy="2476500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7139940" y="1458278"/>
            <a:ext cx="17093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INTEGRATION STRATEGY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141845" y="1807844"/>
            <a:ext cx="3370679" cy="2769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Integrating existing BRT corridors with new dedicated bus lanesto eliminate bottlenecks and ensure seamless transfers.</a:t>
            </a:r>
          </a:p>
        </p:txBody>
      </p:sp>
      <p:sp>
        <p:nvSpPr>
          <p:cNvPr id="17" name="Rectangle 17"/>
          <p:cNvSpPr/>
          <p:nvPr/>
        </p:nvSpPr>
        <p:spPr>
          <a:xfrm>
            <a:off x="6924675" y="3810000"/>
            <a:ext cx="4819650" cy="2600325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7139940" y="4125278"/>
            <a:ext cx="12826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NETWORK IMPACT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141845" y="4474844"/>
            <a:ext cx="4448175" cy="2769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• Focus on network connectivity across urban zones.• Reduced intervals through synchronized scheduling.• Enhanced passenger throughput during peak hours.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24815" y="615315"/>
            <a:ext cx="3979212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2026 MICROMOBILITY ROADMAP</a:t>
            </a:r>
          </a:p>
        </p:txBody>
      </p:sp>
      <p:sp>
        <p:nvSpPr>
          <p:cNvPr id="4" name="Rectangle 4"/>
          <p:cNvSpPr/>
          <p:nvPr/>
        </p:nvSpPr>
        <p:spPr>
          <a:xfrm>
            <a:off x="447675" y="1238250"/>
            <a:ext cx="5457825" cy="2476500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6286500" y="1238250"/>
            <a:ext cx="5457825" cy="2476500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447675" y="3905250"/>
            <a:ext cx="5457825" cy="2476500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6286500" y="3905250"/>
            <a:ext cx="5457825" cy="2476500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62940" y="1553528"/>
            <a:ext cx="122627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INFRASTRUCTURE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34365" y="1834515"/>
            <a:ext cx="1298372" cy="670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0066CC"/>
                </a:solidFill>
                <a:latin typeface="Google Sans"/>
                <a:ea typeface="Microsoft YaHei"/>
                <a:cs typeface="Google Sans"/>
              </a:rPr>
              <a:t>55km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64845" y="2379345"/>
            <a:ext cx="161991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New protected bike lanes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66750" y="2586038"/>
            <a:ext cx="251102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808080"/>
                </a:solidFill>
                <a:latin typeface="Google Sans"/>
                <a:ea typeface="Microsoft YaHei"/>
                <a:cs typeface="Google Sans"/>
              </a:rPr>
              <a:t>Expanding connectivity across urban corridors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01765" y="1553528"/>
            <a:ext cx="100889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PARKING HUBS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473190" y="1834515"/>
            <a:ext cx="1197159" cy="670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0066CC"/>
                </a:solidFill>
                <a:latin typeface="Google Sans"/>
                <a:ea typeface="Microsoft YaHei"/>
                <a:cs typeface="Google Sans"/>
              </a:rPr>
              <a:t>200+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03670" y="2379345"/>
            <a:ext cx="155419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Dedicated parking zones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05575" y="2586038"/>
            <a:ext cx="240696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808080"/>
                </a:solidFill>
                <a:latin typeface="Google Sans"/>
                <a:ea typeface="Microsoft YaHei"/>
                <a:cs typeface="Google Sans"/>
              </a:rPr>
              <a:t>Reducing sidewalk clutter and improving flow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62940" y="4220528"/>
            <a:ext cx="9444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REGULATORY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34365" y="4501515"/>
            <a:ext cx="1070643" cy="670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0066CC"/>
                </a:solidFill>
                <a:latin typeface="Google Sans"/>
                <a:ea typeface="Microsoft YaHei"/>
                <a:cs typeface="Google Sans"/>
              </a:rPr>
              <a:t>100%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64845" y="5046345"/>
            <a:ext cx="152133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Digital plate compliance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66750" y="5253038"/>
            <a:ext cx="244530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808080"/>
                </a:solidFill>
                <a:latin typeface="Google Sans"/>
                <a:ea typeface="Microsoft YaHei"/>
                <a:cs typeface="Google Sans"/>
              </a:rPr>
              <a:t>Enhanced tracking and identification systems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501765" y="4220528"/>
            <a:ext cx="113770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USER FEEDBACK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473190" y="4501515"/>
            <a:ext cx="1197159" cy="670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0066CC"/>
                </a:solidFill>
                <a:latin typeface="Google Sans"/>
                <a:ea typeface="Microsoft YaHei"/>
                <a:cs typeface="Google Sans"/>
              </a:rPr>
              <a:t>24/7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503670" y="5046345"/>
            <a:ext cx="157391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Automated bot response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505575" y="5253038"/>
            <a:ext cx="217693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808080"/>
                </a:solidFill>
                <a:latin typeface="Google Sans"/>
                <a:ea typeface="Microsoft YaHei"/>
                <a:cs typeface="Google Sans"/>
              </a:rPr>
              <a:t>Real-time issue reporting and resolution</a:t>
            </a:r>
          </a:p>
        </p:txBody>
      </p:sp>
      <p:sp>
        <p:nvSpPr>
          <p:cNvPr id="24" name="Freeform 24"/>
          <p:cNvSpPr/>
          <p:nvPr/>
        </p:nvSpPr>
        <p:spPr>
          <a:xfrm>
            <a:off x="5238750" y="1619250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0" y="0"/>
                </a:moveTo>
                <a:lnTo>
                  <a:pt x="285750" y="0"/>
                </a:lnTo>
                <a:lnTo>
                  <a:pt x="285750" y="285750"/>
                </a:lnTo>
                <a:lnTo>
                  <a:pt x="0" y="285750"/>
                </a:lnTo>
                <a:close/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25" name="Freeform 25"/>
          <p:cNvSpPr/>
          <p:nvPr/>
        </p:nvSpPr>
        <p:spPr>
          <a:xfrm>
            <a:off x="11049000" y="1619250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0" y="0"/>
                </a:moveTo>
                <a:lnTo>
                  <a:pt x="285750" y="0"/>
                </a:lnTo>
                <a:lnTo>
                  <a:pt x="285750" y="285750"/>
                </a:lnTo>
                <a:lnTo>
                  <a:pt x="0" y="285750"/>
                </a:lnTo>
                <a:close/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26" name="Freeform 26"/>
          <p:cNvSpPr/>
          <p:nvPr/>
        </p:nvSpPr>
        <p:spPr>
          <a:xfrm>
            <a:off x="5238750" y="4286250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0" y="0"/>
                </a:moveTo>
                <a:lnTo>
                  <a:pt x="285750" y="0"/>
                </a:lnTo>
                <a:lnTo>
                  <a:pt x="285750" y="285750"/>
                </a:lnTo>
                <a:lnTo>
                  <a:pt x="0" y="285750"/>
                </a:lnTo>
                <a:close/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27" name="Freeform 27"/>
          <p:cNvSpPr/>
          <p:nvPr/>
        </p:nvSpPr>
        <p:spPr>
          <a:xfrm>
            <a:off x="11049000" y="4286250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0" y="0"/>
                </a:moveTo>
                <a:lnTo>
                  <a:pt x="285750" y="0"/>
                </a:lnTo>
                <a:lnTo>
                  <a:pt x="285750" y="285750"/>
                </a:lnTo>
                <a:lnTo>
                  <a:pt x="0" y="285750"/>
                </a:lnTo>
                <a:close/>
              </a:path>
            </a:pathLst>
          </a:custGeom>
          <a:noFill/>
          <a:ln w="19050">
            <a:solidFill>
              <a:srgbClr val="0066CC"/>
            </a:solidFill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830</Words>
  <Application>Microsoft Office PowerPoint</Application>
  <PresentationFormat>Широкоэкранный</PresentationFormat>
  <Paragraphs>31</Paragraphs>
  <Slides>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7" baseType="lpstr">
      <vt:lpstr>Arial</vt:lpstr>
      <vt:lpstr>Calibri</vt:lpstr>
      <vt:lpstr>Google Sans</vt:lpstr>
      <vt:lpstr>Office Theme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WestMeal Group</cp:lastModifiedBy>
  <cp:revision>2</cp:revision>
  <dcterms:created xsi:type="dcterms:W3CDTF">2013-01-27T09:14:16Z</dcterms:created>
  <dcterms:modified xsi:type="dcterms:W3CDTF">2026-04-30T17:52:14Z</dcterms:modified>
  <cp:category/>
</cp:coreProperties>
</file>
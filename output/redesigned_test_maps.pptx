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47675" y="447675"/>
            <a:ext cx="1219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lIns="0" rIns="0" tIns="0" bIns="0" wrap="square"/>
          <a:p/>
        </p:txBody>
      </p:sp>
      <p:grpSp>
        <p:nvGrpSpPr>
          <p:cNvPr id="24" name="Group 24"/>
          <p:cNvGrpSpPr/>
          <p:nvPr/>
        </p:nvGrpSpPr>
        <p:grpSpPr>
          <a:xfrm>
            <a:off x="441960" y="556260"/>
            <a:ext cx="11302365" cy="4644390"/>
            <a:chOff x="441960" y="556260"/>
            <a:chExt cx="11302365" cy="4644390"/>
          </a:xfrm>
        </p:grpSpPr>
        <p:sp>
          <p:nvSpPr>
            <p:cNvPr id="3" name="TextBox 3"/>
            <p:cNvSpPr txBox="1"/>
            <p:nvPr/>
          </p:nvSpPr>
          <p:spPr>
            <a:xfrm>
              <a:off x="441960" y="556260"/>
              <a:ext cx="65816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Google Sans"/>
                  <a:ea typeface="Microsoft YaHei"/>
                  <a:cs typeface="Google Sans"/>
                </a:rPr>
                <a:t>НЕДОСТАТОЧНЫЙ ОХВАТ ПРИГОРОДНЫХ ТЕРРИТОРИЙ ОБЩЕСТВЕННЫМ ТРАНСПОРТОМ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41960" y="1089660"/>
              <a:ext cx="9065895" cy="3787140"/>
              <a:chOff x="441960" y="1089660"/>
              <a:chExt cx="9065895" cy="378714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447675" y="1228725"/>
                <a:ext cx="114300" cy="114300"/>
              </a:xfrm>
              <a:prstGeom prst="roundRect">
                <a:avLst>
                  <a:gd name="adj" fmla="val 5000"/>
                </a:avLst>
              </a:prstGeom>
              <a:solidFill>
                <a:srgbClr val="E53935"/>
              </a:solidFill>
              <a:ln>
                <a:noFill/>
              </a:ln>
            </p:spPr>
            <p:txBody>
              <a:bodyPr lIns="0" rIns="0" tIns="0" bIns="0" wrap="square"/>
              <a:p/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594360" y="1089660"/>
                <a:ext cx="8401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Проблема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1960" y="1546860"/>
                <a:ext cx="11530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6CC"/>
                    </a:solidFill>
                    <a:latin typeface="Google Sans"/>
                    <a:ea typeface="Microsoft YaHei"/>
                    <a:cs typeface="Google Sans"/>
                  </a:rPr>
                  <a:t>85 ТЫС. ЧЕЛ.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1960" y="2156460"/>
                <a:ext cx="36583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пригородного населения не обслуживаются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1960" y="2308860"/>
                <a:ext cx="23000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общественным транспортом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57200" y="2895600"/>
                <a:ext cx="4495800" cy="1066800"/>
              </a:xfrm>
              <a:prstGeom prst="roundRect">
                <a:avLst>
                  <a:gd name="adj" fmla="val 5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 lIns="0" rIns="0" tIns="0" bIns="0" wrap="square"/>
              <a:p/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0560" y="2994660"/>
                <a:ext cx="78207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Более</a:t>
                </a:r>
                <a:r>
                  <a:rPr lang="zh-CN" sz="1200" b="1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85 000 человек пригородного населения</a:t>
                </a:r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не обслуживаются общественным транспортом.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457200" y="4114800"/>
                <a:ext cx="44958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 lIns="0" rIns="0" tIns="0" bIns="0" wrap="square"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0560" y="4213860"/>
                <a:ext cx="88372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Значительная часть пригородных населенных</a:t>
                </a:r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пунктов не имеет доступа к транспортной</a:t>
                </a:r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инфраструктуре.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962525" y="1219200"/>
              <a:ext cx="6781800" cy="3981450"/>
              <a:chOff x="4962525" y="1219200"/>
              <a:chExt cx="6781800" cy="39814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962525" y="1219200"/>
                <a:ext cx="6781800" cy="3962400"/>
              </a:xfrm>
              <a:prstGeom prst="roundRect">
                <a:avLst>
                  <a:gd name="adj" fmla="val 5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 lIns="0" rIns="0" tIns="0" bIns="0" wrap="square"/>
              <a:p/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410200" y="1447800"/>
                <a:ext cx="6324600" cy="2895600"/>
              </a:xfrm>
              <a:prstGeom prst="roundRect">
                <a:avLst>
                  <a:gd name="adj" fmla="val 5000"/>
                </a:avLst>
              </a:prstGeom>
              <a:solidFill>
                <a:srgbClr val="E0E0E0"/>
              </a:solidFill>
              <a:ln>
                <a:noFill/>
              </a:ln>
            </p:spPr>
            <p:txBody>
              <a:bodyPr lIns="0" rIns="0" tIns="0" bIns="0" wrap="square"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46124" y="2766060"/>
                <a:ext cx="15289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08080"/>
                    </a:solidFill>
                    <a:latin typeface="Google Sans"/>
                    <a:ea typeface="Microsoft YaHei"/>
                    <a:cs typeface="Google Sans"/>
                  </a:rPr>
                  <a:t>Упрощенная карта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364158" y="2994660"/>
                <a:ext cx="24928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08080"/>
                    </a:solidFill>
                    <a:latin typeface="Google Sans"/>
                    <a:ea typeface="Microsoft YaHei"/>
                    <a:cs typeface="Google Sans"/>
                  </a:rPr>
                  <a:t>(визуализация зонирования)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94960" y="4366260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Легенда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429250" y="4819650"/>
                <a:ext cx="152400" cy="152400"/>
              </a:xfrm>
              <a:prstGeom prst="roundRect">
                <a:avLst>
                  <a:gd name="adj" fmla="val 5000"/>
                </a:avLst>
              </a:prstGeom>
              <a:solidFill>
                <a:srgbClr val="28A745"/>
              </a:solidFill>
              <a:ln>
                <a:noFill/>
              </a:ln>
            </p:spPr>
            <p:txBody>
              <a:bodyPr lIns="0" rIns="0" tIns="0" bIns="0" wrap="square"/>
              <a:p/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23560" y="4671060"/>
                <a:ext cx="23000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Обслуживаемые территории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429250" y="5048250"/>
                <a:ext cx="152400" cy="152400"/>
              </a:xfrm>
              <a:prstGeom prst="roundRect">
                <a:avLst>
                  <a:gd name="adj" fmla="val 5000"/>
                </a:avLst>
              </a:prstGeom>
              <a:solidFill>
                <a:srgbClr val="E53935"/>
              </a:solidFill>
              <a:ln>
                <a:noFill/>
              </a:ln>
            </p:spPr>
            <p:txBody>
              <a:bodyPr lIns="0" rIns="0" tIns="0" bIns="0" wrap="square"/>
              <a:p/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623560" y="4899660"/>
                <a:ext cx="24928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1A"/>
                    </a:solidFill>
                    <a:latin typeface="Google Sans"/>
                    <a:ea typeface="Microsoft YaHei"/>
                    <a:cs typeface="Google Sans"/>
                  </a:rPr>
                  <a:t>Необслуживаемые территории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41960" y="6280785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08080"/>
                </a:solidFill>
                <a:latin typeface="Google Sans"/>
                <a:ea typeface="Microsoft YaHei"/>
                <a:cs typeface="Google Sans"/>
              </a:rPr>
              <a:t>© 2023 Название Компании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23167" y="628078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08080"/>
                </a:solidFill>
                <a:latin typeface="Google Sans"/>
                <a:ea typeface="Microsoft YaHei"/>
                <a:cs typeface="Google Sans"/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47675" y="447675"/>
            <a:ext cx="1219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lIns="0" rIns="0" tIns="0" bIns="0" wrap="square"/>
          <a:p/>
        </p:txBody>
      </p:sp>
      <p:grpSp>
        <p:nvGrpSpPr>
          <p:cNvPr id="32" name="Group 32"/>
          <p:cNvGrpSpPr/>
          <p:nvPr/>
        </p:nvGrpSpPr>
        <p:grpSpPr>
          <a:xfrm>
            <a:off x="441960" y="765810"/>
            <a:ext cx="11750040" cy="5558790"/>
            <a:chOff x="441960" y="765810"/>
            <a:chExt cx="11750040" cy="5558790"/>
          </a:xfrm>
        </p:grpSpPr>
        <p:sp>
          <p:nvSpPr>
            <p:cNvPr id="3" name="TextBox 3"/>
            <p:cNvSpPr txBox="1"/>
            <p:nvPr/>
          </p:nvSpPr>
          <p:spPr>
            <a:xfrm>
              <a:off x="441960" y="765810"/>
              <a:ext cx="501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РАЗВИТИЕ ВЫДЕЛЕННЫХ ПОЛОС ДЛЯ ОБЩЕСТВЕННОГО ТРАНСПОРТА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47675" y="1737360"/>
              <a:ext cx="7973568" cy="4587240"/>
              <a:chOff x="447675" y="1737360"/>
              <a:chExt cx="7973568" cy="458724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447675" y="1737360"/>
                <a:ext cx="7973568" cy="1958340"/>
                <a:chOff x="447675" y="1737360"/>
                <a:chExt cx="7973568" cy="1958340"/>
              </a:xfrm>
            </p:grpSpPr>
            <p:sp>
              <p:nvSpPr>
                <p:cNvPr id="4" name="TextBox 4"/>
                <p:cNvSpPr txBox="1"/>
                <p:nvPr/>
              </p:nvSpPr>
              <p:spPr>
                <a:xfrm>
                  <a:off x="880110" y="1737360"/>
                  <a:ext cx="152895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Ключевые пункты:</a:t>
                  </a:r>
                </a:p>
              </p:txBody>
            </p:sp>
            <p:grpSp>
              <p:nvGrpSpPr>
                <p:cNvPr id="8" name="Group 8"/>
                <p:cNvGrpSpPr/>
                <p:nvPr/>
              </p:nvGrpSpPr>
              <p:grpSpPr>
                <a:xfrm>
                  <a:off x="447675" y="1762125"/>
                  <a:ext cx="7973568" cy="561975"/>
                  <a:chOff x="447675" y="1762125"/>
                  <a:chExt cx="7973568" cy="561975"/>
                </a:xfrm>
              </p:grpSpPr>
              <p:sp>
                <p:nvSpPr>
                  <p:cNvPr id="5" name="Rectangle 5"/>
                  <p:cNvSpPr/>
                  <p:nvPr/>
                </p:nvSpPr>
                <p:spPr>
                  <a:xfrm>
                    <a:off x="447675" y="1762125"/>
                    <a:ext cx="342900" cy="3429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6" name="Freeform 6"/>
                  <p:cNvSpPr/>
                  <p:nvPr/>
                </p:nvSpPr>
                <p:spPr>
                  <a:xfrm>
                    <a:off x="538162" y="1862138"/>
                    <a:ext cx="161925" cy="16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925" h="161925">
                        <a:moveTo>
                          <a:pt x="80962" y="0"/>
                        </a:moveTo>
                        <a:cubicBezTo>
                          <a:pt x="36290" y="0"/>
                          <a:pt x="0" y="36290"/>
                          <a:pt x="0" y="80962"/>
                        </a:cubicBezTo>
                        <a:cubicBezTo>
                          <a:pt x="0" y="125635"/>
                          <a:pt x="36290" y="161925"/>
                          <a:pt x="80962" y="161925"/>
                        </a:cubicBezTo>
                        <a:cubicBezTo>
                          <a:pt x="125635" y="161925"/>
                          <a:pt x="161925" y="125635"/>
                          <a:pt x="161925" y="80962"/>
                        </a:cubicBezTo>
                        <a:cubicBezTo>
                          <a:pt x="161925" y="36290"/>
                          <a:pt x="125635" y="0"/>
                          <a:pt x="80962" y="0"/>
                        </a:cubicBezTo>
                        <a:close/>
                        <a:moveTo>
                          <a:pt x="80962" y="142875"/>
                        </a:moveTo>
                        <a:cubicBezTo>
                          <a:pt x="47339" y="142875"/>
                          <a:pt x="19050" y="114586"/>
                          <a:pt x="19050" y="80962"/>
                        </a:cubicBezTo>
                        <a:cubicBezTo>
                          <a:pt x="19050" y="47339"/>
                          <a:pt x="47339" y="19050"/>
                          <a:pt x="80962" y="19050"/>
                        </a:cubicBezTo>
                        <a:cubicBezTo>
                          <a:pt x="114586" y="19050"/>
                          <a:pt x="142875" y="47339"/>
                          <a:pt x="142875" y="80962"/>
                        </a:cubicBezTo>
                        <a:cubicBezTo>
                          <a:pt x="142875" y="114586"/>
                          <a:pt x="114586" y="142875"/>
                          <a:pt x="80962" y="142875"/>
                        </a:cubicBezTo>
                        <a:close/>
                        <a:moveTo>
                          <a:pt x="85725" y="38100"/>
                        </a:moveTo>
                        <a:lnTo>
                          <a:pt x="76200" y="38100"/>
                        </a:lnTo>
                        <a:lnTo>
                          <a:pt x="76200" y="85725"/>
                        </a:lnTo>
                        <a:lnTo>
                          <a:pt x="117157" y="110014"/>
                        </a:lnTo>
                        <a:lnTo>
                          <a:pt x="121920" y="101917"/>
                        </a:lnTo>
                        <a:lnTo>
                          <a:pt x="85725" y="80962"/>
                        </a:lnTo>
                        <a:lnTo>
                          <a:pt x="85725" y="381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7" name="TextBox 7"/>
                  <p:cNvSpPr txBox="1"/>
                  <p:nvPr/>
                </p:nvSpPr>
                <p:spPr>
                  <a:xfrm>
                    <a:off x="889635" y="2080260"/>
                    <a:ext cx="7531608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Создание непрерывного каркаса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выделенных полос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(BUS LANE) для приоритета автобусов.</a:t>
                    </a:r>
                  </a:p>
                </p:txBody>
              </p:sp>
            </p:grpSp>
            <p:grpSp>
              <p:nvGrpSpPr>
                <p:cNvPr id="12" name="Group 12"/>
                <p:cNvGrpSpPr/>
                <p:nvPr/>
              </p:nvGrpSpPr>
              <p:grpSpPr>
                <a:xfrm>
                  <a:off x="447675" y="2447925"/>
                  <a:ext cx="7193661" cy="561975"/>
                  <a:chOff x="447675" y="2447925"/>
                  <a:chExt cx="7193661" cy="561975"/>
                </a:xfrm>
              </p:grpSpPr>
              <p:sp>
                <p:nvSpPr>
                  <p:cNvPr id="9" name="Rectangle 9"/>
                  <p:cNvSpPr/>
                  <p:nvPr/>
                </p:nvSpPr>
                <p:spPr>
                  <a:xfrm>
                    <a:off x="447675" y="2447925"/>
                    <a:ext cx="342900" cy="3429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10" name="Freeform 10"/>
                  <p:cNvSpPr/>
                  <p:nvPr/>
                </p:nvSpPr>
                <p:spPr>
                  <a:xfrm>
                    <a:off x="538162" y="2547938"/>
                    <a:ext cx="161925" cy="16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925" h="161925">
                        <a:moveTo>
                          <a:pt x="80962" y="0"/>
                        </a:moveTo>
                        <a:cubicBezTo>
                          <a:pt x="36290" y="0"/>
                          <a:pt x="0" y="36290"/>
                          <a:pt x="0" y="80962"/>
                        </a:cubicBezTo>
                        <a:cubicBezTo>
                          <a:pt x="0" y="125635"/>
                          <a:pt x="36290" y="161925"/>
                          <a:pt x="80962" y="161925"/>
                        </a:cubicBezTo>
                        <a:cubicBezTo>
                          <a:pt x="125635" y="161925"/>
                          <a:pt x="161925" y="125635"/>
                          <a:pt x="161925" y="80962"/>
                        </a:cubicBezTo>
                        <a:cubicBezTo>
                          <a:pt x="161925" y="36290"/>
                          <a:pt x="125635" y="0"/>
                          <a:pt x="80962" y="0"/>
                        </a:cubicBezTo>
                        <a:close/>
                        <a:moveTo>
                          <a:pt x="80962" y="142875"/>
                        </a:moveTo>
                        <a:cubicBezTo>
                          <a:pt x="47339" y="142875"/>
                          <a:pt x="19050" y="114586"/>
                          <a:pt x="19050" y="80962"/>
                        </a:cubicBezTo>
                        <a:cubicBezTo>
                          <a:pt x="19050" y="47339"/>
                          <a:pt x="47339" y="19050"/>
                          <a:pt x="80962" y="19050"/>
                        </a:cubicBezTo>
                        <a:cubicBezTo>
                          <a:pt x="114586" y="19050"/>
                          <a:pt x="142875" y="47339"/>
                          <a:pt x="142875" y="80962"/>
                        </a:cubicBezTo>
                        <a:cubicBezTo>
                          <a:pt x="142875" y="114586"/>
                          <a:pt x="114586" y="142875"/>
                          <a:pt x="80962" y="142875"/>
                        </a:cubicBezTo>
                        <a:close/>
                        <a:moveTo>
                          <a:pt x="85725" y="38100"/>
                        </a:moveTo>
                        <a:lnTo>
                          <a:pt x="76200" y="38100"/>
                        </a:lnTo>
                        <a:lnTo>
                          <a:pt x="76200" y="85725"/>
                        </a:lnTo>
                        <a:lnTo>
                          <a:pt x="117157" y="110014"/>
                        </a:lnTo>
                        <a:lnTo>
                          <a:pt x="121920" y="101917"/>
                        </a:lnTo>
                        <a:lnTo>
                          <a:pt x="85725" y="80962"/>
                        </a:lnTo>
                        <a:lnTo>
                          <a:pt x="85725" y="381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889635" y="2766060"/>
                    <a:ext cx="6751701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Обеспечение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связанности скоростных линий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и оптимизация подвижного состава.</a:t>
                    </a:r>
                  </a:p>
                </p:txBody>
              </p:sp>
            </p:grpSp>
            <p:grpSp>
              <p:nvGrpSpPr>
                <p:cNvPr id="16" name="Group 16"/>
                <p:cNvGrpSpPr/>
                <p:nvPr/>
              </p:nvGrpSpPr>
              <p:grpSpPr>
                <a:xfrm>
                  <a:off x="447675" y="3133725"/>
                  <a:ext cx="7964805" cy="561975"/>
                  <a:chOff x="447675" y="3133725"/>
                  <a:chExt cx="7964805" cy="561975"/>
                </a:xfrm>
              </p:grpSpPr>
              <p:sp>
                <p:nvSpPr>
                  <p:cNvPr id="13" name="Rectangle 13"/>
                  <p:cNvSpPr/>
                  <p:nvPr/>
                </p:nvSpPr>
                <p:spPr>
                  <a:xfrm>
                    <a:off x="447675" y="3133725"/>
                    <a:ext cx="342900" cy="3429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0066CC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538162" y="3233738"/>
                    <a:ext cx="161925" cy="16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925" h="161925">
                        <a:moveTo>
                          <a:pt x="80962" y="0"/>
                        </a:moveTo>
                        <a:cubicBezTo>
                          <a:pt x="36290" y="0"/>
                          <a:pt x="0" y="36290"/>
                          <a:pt x="0" y="80962"/>
                        </a:cubicBezTo>
                        <a:cubicBezTo>
                          <a:pt x="0" y="125635"/>
                          <a:pt x="36290" y="161925"/>
                          <a:pt x="80962" y="161925"/>
                        </a:cubicBezTo>
                        <a:cubicBezTo>
                          <a:pt x="125635" y="161925"/>
                          <a:pt x="161925" y="125635"/>
                          <a:pt x="161925" y="80962"/>
                        </a:cubicBezTo>
                        <a:cubicBezTo>
                          <a:pt x="161925" y="36290"/>
                          <a:pt x="125635" y="0"/>
                          <a:pt x="80962" y="0"/>
                        </a:cubicBezTo>
                        <a:close/>
                        <a:moveTo>
                          <a:pt x="80962" y="142875"/>
                        </a:moveTo>
                        <a:cubicBezTo>
                          <a:pt x="47339" y="142875"/>
                          <a:pt x="19050" y="114586"/>
                          <a:pt x="19050" y="80962"/>
                        </a:cubicBezTo>
                        <a:cubicBezTo>
                          <a:pt x="19050" y="47339"/>
                          <a:pt x="47339" y="19050"/>
                          <a:pt x="80962" y="19050"/>
                        </a:cubicBezTo>
                        <a:cubicBezTo>
                          <a:pt x="114586" y="19050"/>
                          <a:pt x="142875" y="47339"/>
                          <a:pt x="142875" y="80962"/>
                        </a:cubicBezTo>
                        <a:cubicBezTo>
                          <a:pt x="142875" y="114586"/>
                          <a:pt x="114586" y="142875"/>
                          <a:pt x="80962" y="142875"/>
                        </a:cubicBezTo>
                        <a:close/>
                        <a:moveTo>
                          <a:pt x="85725" y="38100"/>
                        </a:moveTo>
                        <a:lnTo>
                          <a:pt x="76200" y="38100"/>
                        </a:lnTo>
                        <a:lnTo>
                          <a:pt x="76200" y="85725"/>
                        </a:lnTo>
                        <a:lnTo>
                          <a:pt x="117157" y="110014"/>
                        </a:lnTo>
                        <a:lnTo>
                          <a:pt x="121920" y="101917"/>
                        </a:lnTo>
                        <a:lnTo>
                          <a:pt x="85725" y="80962"/>
                        </a:lnTo>
                        <a:lnTo>
                          <a:pt x="85725" y="381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lIns="0" rIns="0" tIns="0" bIns="0" wrap="square"/>
                  <a:p/>
                </p:txBody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89635" y="3451860"/>
                    <a:ext cx="7522845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Сокращение интервалов движения и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повышение эффективности</a:t>
                    </a:r>
                    <a:r>
                      <a:rPr lang="zh-CN" sz="1200" dirty="0">
                        <a:solidFill>
                          <a:srgbClr val="1A1A1A"/>
                        </a:solidFill>
                        <a:latin typeface="Segoe UI"/>
                        <a:ea typeface="Microsoft YaHei"/>
                        <a:cs typeface="Segoe UI"/>
                      </a:rPr>
                      <a:t>общественного транспорта.</a:t>
                    </a:r>
                  </a:p>
                </p:txBody>
              </p:sp>
            </p:grpSp>
          </p:grpSp>
          <p:grpSp>
            <p:nvGrpSpPr>
              <p:cNvPr id="26" name="Group 26"/>
              <p:cNvGrpSpPr/>
              <p:nvPr/>
            </p:nvGrpSpPr>
            <p:grpSpPr>
              <a:xfrm>
                <a:off x="880110" y="4366260"/>
                <a:ext cx="4511040" cy="1958340"/>
                <a:chOff x="880110" y="4366260"/>
                <a:chExt cx="4511040" cy="1958340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895350" y="4495800"/>
                  <a:ext cx="4495800" cy="18288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 w="9525">
                  <a:solidFill>
                    <a:srgbClr val="E0E0E0"/>
                  </a:solidFill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80110" y="4366260"/>
                  <a:ext cx="608838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ЭФФЕКТ</a:t>
                  </a:r>
                </a:p>
              </p:txBody>
            </p:sp>
            <p:grpSp>
              <p:nvGrpSpPr>
                <p:cNvPr id="22" name="Group 22"/>
                <p:cNvGrpSpPr/>
                <p:nvPr/>
              </p:nvGrpSpPr>
              <p:grpSpPr>
                <a:xfrm>
                  <a:off x="1108710" y="5013960"/>
                  <a:ext cx="1721739" cy="253365"/>
                  <a:chOff x="1108710" y="5013960"/>
                  <a:chExt cx="1721739" cy="253365"/>
                </a:xfrm>
              </p:grpSpPr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108710" y="5013960"/>
                    <a:ext cx="275844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0066CC"/>
                        </a:solidFill>
                        <a:latin typeface="Segoe UI"/>
                        <a:ea typeface="Microsoft YaHei"/>
                        <a:cs typeface="Segoe UI"/>
                      </a:rPr>
                      <a:t>15%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1108710" y="5023485"/>
                    <a:ext cx="1721739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808080"/>
                        </a:solidFill>
                        <a:latin typeface="Segoe UI"/>
                        <a:ea typeface="Microsoft YaHei"/>
                        <a:cs typeface="Segoe UI"/>
                      </a:rPr>
                      <a:t>Ускорение движения</a:t>
                    </a:r>
                  </a:p>
                </p:txBody>
              </p:sp>
            </p:grpSp>
            <p:grpSp>
              <p:nvGrpSpPr>
                <p:cNvPr id="25" name="Group 25"/>
                <p:cNvGrpSpPr/>
                <p:nvPr/>
              </p:nvGrpSpPr>
              <p:grpSpPr>
                <a:xfrm>
                  <a:off x="3166110" y="5013960"/>
                  <a:ext cx="1625346" cy="253365"/>
                  <a:chOff x="3166110" y="5013960"/>
                  <a:chExt cx="1625346" cy="253365"/>
                </a:xfrm>
              </p:grpSpPr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3166110" y="5013960"/>
                    <a:ext cx="319659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0066CC"/>
                        </a:solidFill>
                        <a:latin typeface="Segoe UI"/>
                        <a:ea typeface="Microsoft YaHei"/>
                        <a:cs typeface="Segoe UI"/>
                      </a:rPr>
                      <a:t>20%</a:t>
                    </a:r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3166110" y="5023485"/>
                    <a:ext cx="1625346" cy="2438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rgbClr val="808080"/>
                        </a:solidFill>
                        <a:latin typeface="Segoe UI"/>
                        <a:ea typeface="Microsoft YaHei"/>
                        <a:cs typeface="Segoe UI"/>
                      </a:rPr>
                      <a:t>Снижение задержек</a:t>
                    </a:r>
                  </a:p>
                </p:txBody>
              </p:sp>
            </p:grpSp>
          </p:grpSp>
        </p:grpSp>
        <p:grpSp>
          <p:nvGrpSpPr>
            <p:cNvPr id="31" name="Group 31"/>
            <p:cNvGrpSpPr/>
            <p:nvPr/>
          </p:nvGrpSpPr>
          <p:grpSpPr>
            <a:xfrm>
              <a:off x="5562600" y="1866900"/>
              <a:ext cx="6629400" cy="4419600"/>
              <a:chOff x="5562600" y="1866900"/>
              <a:chExt cx="6629400" cy="44196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562600" y="1866900"/>
                <a:ext cx="6629400" cy="4419600"/>
              </a:xfrm>
              <a:prstGeom prst="roundRect">
                <a:avLst>
                  <a:gd name="adj" fmla="val 5000"/>
                </a:avLst>
              </a:prstGeom>
              <a:solidFill>
                <a:srgbClr val="F8F9FA"/>
              </a:solidFill>
              <a:ln w="9525">
                <a:solidFill>
                  <a:srgbClr val="E0E0E0"/>
                </a:solidFill>
              </a:ln>
            </p:spPr>
            <p:txBody>
              <a:bodyPr lIns="0" rIns="0" tIns="0" bIns="0" wrap="square"/>
              <a:p/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0451" y="3499485"/>
                <a:ext cx="36145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08080"/>
                    </a:solidFill>
                    <a:latin typeface="Segoe UI"/>
                    <a:ea typeface="Microsoft YaHei"/>
                    <a:cs typeface="Segoe UI"/>
                  </a:rPr>
                  <a:t>Упрощенная карта с выделенными полосами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24116" y="3804285"/>
                <a:ext cx="28872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08080"/>
                    </a:solidFill>
                    <a:latin typeface="Segoe UI"/>
                    <a:ea typeface="Microsoft YaHei"/>
                    <a:cs typeface="Segoe UI"/>
                  </a:rPr>
                  <a:t>(Изображение карты будет здесь)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441960" y="6280785"/>
            <a:ext cx="11308080" cy="243840"/>
            <a:chOff x="441960" y="6280785"/>
            <a:chExt cx="11308080" cy="243840"/>
          </a:xfrm>
        </p:grpSpPr>
        <p:sp>
          <p:nvSpPr>
            <p:cNvPr id="33" name="TextBox 33"/>
            <p:cNvSpPr txBox="1"/>
            <p:nvPr/>
          </p:nvSpPr>
          <p:spPr>
            <a:xfrm>
              <a:off x="441960" y="6280785"/>
              <a:ext cx="22650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© 2023 Все права защищены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666982" y="6280785"/>
              <a:ext cx="830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08080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47675" y="447675"/>
            <a:ext cx="12192000" cy="685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lIns="0" rIns="0" tIns="0" bIns="0" wrap="square"/>
          <a:p/>
        </p:txBody>
      </p:sp>
      <p:grpSp>
        <p:nvGrpSpPr>
          <p:cNvPr id="37" name="Group 37"/>
          <p:cNvGrpSpPr/>
          <p:nvPr/>
        </p:nvGrpSpPr>
        <p:grpSpPr>
          <a:xfrm>
            <a:off x="441960" y="784860"/>
            <a:ext cx="11292840" cy="3025140"/>
            <a:chOff x="441960" y="784860"/>
            <a:chExt cx="11292840" cy="3025140"/>
          </a:xfrm>
        </p:grpSpPr>
        <p:sp>
          <p:nvSpPr>
            <p:cNvPr id="3" name="TextBox 3"/>
            <p:cNvSpPr txBox="1"/>
            <p:nvPr/>
          </p:nvSpPr>
          <p:spPr>
            <a:xfrm>
              <a:off x="441960" y="784860"/>
              <a:ext cx="4253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Google Sans"/>
                  <a:ea typeface="Microsoft YaHei"/>
                  <a:cs typeface="Google Sans"/>
                </a:rPr>
                <a:t>РАЗВИТИЕ МИКРОМОБИЛЬНОСТИ: ПЛАНЫ НА 2026 ГОД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57200" y="1676400"/>
              <a:ext cx="11277600" cy="2133600"/>
              <a:chOff x="457200" y="1676400"/>
              <a:chExt cx="11277600" cy="2133600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457200" y="1676400"/>
                <a:ext cx="11277600" cy="914400"/>
                <a:chOff x="457200" y="1676400"/>
                <a:chExt cx="11277600" cy="914400"/>
              </a:xfrm>
            </p:grpSpPr>
            <p:sp>
              <p:nvSpPr>
                <p:cNvPr id="4" name="Rectangle 4"/>
                <p:cNvSpPr/>
                <p:nvPr/>
              </p:nvSpPr>
              <p:spPr>
                <a:xfrm>
                  <a:off x="457200" y="1676400"/>
                  <a:ext cx="11277600" cy="9144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5" name="Rectangle 5"/>
                <p:cNvSpPr/>
                <p:nvPr/>
              </p:nvSpPr>
              <p:spPr>
                <a:xfrm>
                  <a:off x="676275" y="1990725"/>
                  <a:ext cx="342900" cy="3429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6" name="Freeform 6"/>
                <p:cNvSpPr/>
                <p:nvPr/>
              </p:nvSpPr>
              <p:spPr>
                <a:xfrm>
                  <a:off x="838200" y="2047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7" name="Freeform 7"/>
                <p:cNvSpPr/>
                <p:nvPr/>
              </p:nvSpPr>
              <p:spPr>
                <a:xfrm>
                  <a:off x="838200" y="20764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838200" y="2105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838200" y="21336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838200" y="21621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838200" y="21907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838200" y="22193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838200" y="22479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838200" y="22764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838200" y="23050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838200" y="2333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38200" y="23622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03960" y="1927860"/>
                  <a:ext cx="506044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Обустройство</a:t>
                  </a:r>
                  <a:r>
                    <a:rPr lang="zh-CN" sz="1200" b="1" dirty="0">
                      <a:solidFill>
                        <a:srgbClr val="0066CC"/>
                      </a:solidFill>
                      <a:latin typeface="Google Sans"/>
                      <a:ea typeface="Microsoft YaHei"/>
                      <a:cs typeface="Google Sans"/>
                    </a:rPr>
                    <a:t>55 км</a:t>
                  </a:r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велополос и</a:t>
                  </a:r>
                  <a:r>
                    <a:rPr lang="zh-CN" sz="1200" b="1" dirty="0">
                      <a:solidFill>
                        <a:srgbClr val="0066CC"/>
                      </a:solidFill>
                      <a:latin typeface="Google Sans"/>
                      <a:ea typeface="Microsoft YaHei"/>
                      <a:cs typeface="Google Sans"/>
                    </a:rPr>
                    <a:t>200</a:t>
                  </a:r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парковок для самокатов.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457200" y="2895600"/>
                <a:ext cx="11277600" cy="914400"/>
                <a:chOff x="457200" y="2895600"/>
                <a:chExt cx="11277600" cy="91440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457200" y="2895600"/>
                  <a:ext cx="11277600" cy="9144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1" name="Rectangle 21"/>
                <p:cNvSpPr/>
                <p:nvPr/>
              </p:nvSpPr>
              <p:spPr>
                <a:xfrm>
                  <a:off x="676275" y="3181350"/>
                  <a:ext cx="342900" cy="3429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0066CC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838200" y="32385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838200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838200" y="32956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838200" y="33242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38200" y="33528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7" name="Freeform 27"/>
                <p:cNvSpPr/>
                <p:nvPr/>
              </p:nvSpPr>
              <p:spPr>
                <a:xfrm>
                  <a:off x="838200" y="33813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8" name="Freeform 28"/>
                <p:cNvSpPr/>
                <p:nvPr/>
              </p:nvSpPr>
              <p:spPr>
                <a:xfrm>
                  <a:off x="838200" y="34099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838200" y="34385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38200" y="34671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838200" y="34956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838200" y="35242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838200" y="35528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9525" y="19050"/>
                      </a:moveTo>
                      <a:cubicBezTo>
                        <a:pt x="14786" y="19050"/>
                        <a:pt x="19050" y="14783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  <a:cubicBezTo>
                        <a:pt x="0" y="14783"/>
                        <a:pt x="4264" y="19050"/>
                        <a:pt x="9525" y="190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lIns="0" rIns="0" tIns="0" bIns="0" wrap="square"/>
                <a:p/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203960" y="3070860"/>
                  <a:ext cx="6646545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Внедрение</a:t>
                  </a:r>
                  <a:r>
                    <a:rPr lang="zh-CN" sz="1200" b="1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единых номерных знаков</a:t>
                  </a:r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и запуск</a:t>
                  </a:r>
                  <a:r>
                    <a:rPr lang="zh-CN" sz="1200" b="1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Telegram-бота</a:t>
                  </a:r>
                  <a:r>
                    <a:rPr lang="zh-CN" sz="1200" dirty="0">
                      <a:solidFill>
                        <a:srgbClr val="1A1A1A"/>
                      </a:solidFill>
                      <a:latin typeface="Google Sans"/>
                      <a:ea typeface="Microsoft YaHei"/>
                      <a:cs typeface="Google Sans"/>
                    </a:rPr>
                    <a:t>для обратной связи.</a:t>
                  </a:r>
                </a:p>
              </p:txBody>
            </p:sp>
          </p:grpSp>
        </p:grpSp>
      </p:grpSp>
      <p:sp>
        <p:nvSpPr>
          <p:cNvPr id="38" name="TextBox 38"/>
          <p:cNvSpPr txBox="1"/>
          <p:nvPr/>
        </p:nvSpPr>
        <p:spPr>
          <a:xfrm>
            <a:off x="11623167" y="628078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08080"/>
                </a:solidFill>
                <a:latin typeface="Google Sans"/>
                <a:ea typeface="Microsoft YaHei"/>
                <a:cs typeface="Google San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
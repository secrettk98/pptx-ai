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34340" y="643890"/>
            <a:ext cx="591145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КРИТИЧЕСКИЙ ДЕФИЦИТ ТРАНСПОРТНОГО ОХВАТА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143000"/>
            <a:ext cx="3352800" cy="14478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43890" y="1320165"/>
            <a:ext cx="1905648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85 000+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2465" y="1867852"/>
            <a:ext cx="287672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жителей пригорода не имеют доступа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72465" y="2096452"/>
            <a:ext cx="22487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к общественному транспорту</a:t>
            </a:r>
          </a:p>
        </p:txBody>
      </p:sp>
      <p:sp>
        <p:nvSpPr>
          <p:cNvPr id="8" name="Rectangle 8"/>
          <p:cNvSpPr/>
          <p:nvPr/>
        </p:nvSpPr>
        <p:spPr>
          <a:xfrm>
            <a:off x="457200" y="2743200"/>
            <a:ext cx="3352800" cy="76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72465" y="2934652"/>
            <a:ext cx="26996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Интеграция 16 населенных пунктов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4370" y="3103245"/>
            <a:ext cx="24217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Необходима интеграция в единую сеть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191000" y="1143000"/>
            <a:ext cx="7543800" cy="472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4762500" y="1587500"/>
            <a:ext cx="5715000" cy="2222500"/>
          </a:xfrm>
          <a:custGeom>
            <a:avLst/>
            <a:gdLst/>
            <a:ahLst/>
            <a:cxnLst/>
            <a:rect l="l" t="t" r="r" b="b"/>
            <a:pathLst>
              <a:path w="5715000" h="2222500">
                <a:moveTo>
                  <a:pt x="0" y="317500"/>
                </a:moveTo>
                <a:cubicBezTo>
                  <a:pt x="635000" y="0"/>
                  <a:pt x="1270000" y="158750"/>
                  <a:pt x="1905000" y="793750"/>
                </a:cubicBezTo>
                <a:cubicBezTo>
                  <a:pt x="2540000" y="1428750"/>
                  <a:pt x="3175000" y="1587500"/>
                  <a:pt x="3810000" y="1270000"/>
                </a:cubicBezTo>
                <a:cubicBezTo>
                  <a:pt x="4445000" y="952500"/>
                  <a:pt x="5080000" y="1270000"/>
                  <a:pt x="5715000" y="2222500"/>
                </a:cubicBez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5429250" y="2095500"/>
            <a:ext cx="1524000" cy="1524000"/>
          </a:xfrm>
          <a:prstGeom prst="ellipse">
            <a:avLst/>
          </a:prstGeom>
          <a:solidFill>
            <a:srgbClr val="28A745">
              <a:alpha val="60000"/>
            </a:srgbClr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7429500" y="2667000"/>
            <a:ext cx="2286000" cy="2286000"/>
          </a:xfrm>
          <a:prstGeom prst="ellipse">
            <a:avLst/>
          </a:prstGeom>
          <a:solidFill>
            <a:srgbClr val="DC3545">
              <a:alpha val="60000"/>
            </a:srgbClr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7620000" y="1905000"/>
            <a:ext cx="952500" cy="952500"/>
          </a:xfrm>
          <a:prstGeom prst="ellipse">
            <a:avLst/>
          </a:prstGeom>
          <a:solidFill>
            <a:srgbClr val="DC3545">
              <a:alpha val="60000"/>
            </a:srgbClr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4381500" y="5334000"/>
            <a:ext cx="1905000" cy="38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Ellipse 17"/>
          <p:cNvSpPr/>
          <p:nvPr/>
        </p:nvSpPr>
        <p:spPr>
          <a:xfrm>
            <a:off x="4495800" y="5448300"/>
            <a:ext cx="152400" cy="1524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4714875" y="5481638"/>
            <a:ext cx="50101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Охвачено</a:t>
            </a:r>
          </a:p>
        </p:txBody>
      </p:sp>
      <p:sp>
        <p:nvSpPr>
          <p:cNvPr id="19" name="Ellipse 19"/>
          <p:cNvSpPr/>
          <p:nvPr/>
        </p:nvSpPr>
        <p:spPr>
          <a:xfrm>
            <a:off x="5257800" y="5448300"/>
            <a:ext cx="152400" cy="15240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5476875" y="5481638"/>
            <a:ext cx="4407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Дефицит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47675" y="6329362"/>
            <a:ext cx="389120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Визуализация плотности населения и транспортной доступности региона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34340" y="643890"/>
            <a:ext cx="553880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СОЗДАНИЕ НЕПРЕРЫВНОГО КАРКАСА BUS LANE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143000"/>
            <a:ext cx="6172200" cy="52578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428750" y="1905000"/>
            <a:ext cx="4286250" cy="3333750"/>
          </a:xfrm>
          <a:custGeom>
            <a:avLst/>
            <a:gdLst/>
            <a:ahLst/>
            <a:cxnLst/>
            <a:rect l="l" t="t" r="r" b="b"/>
            <a:pathLst>
              <a:path w="4286250" h="3333750">
                <a:moveTo>
                  <a:pt x="0" y="0"/>
                </a:moveTo>
                <a:lnTo>
                  <a:pt x="1428750" y="476250"/>
                </a:lnTo>
                <a:lnTo>
                  <a:pt x="2857500" y="0"/>
                </a:lnTo>
                <a:lnTo>
                  <a:pt x="4286250" y="1428750"/>
                </a:lnTo>
                <a:moveTo>
                  <a:pt x="1428750" y="476250"/>
                </a:moveTo>
                <a:lnTo>
                  <a:pt x="1428750" y="3333750"/>
                </a:lnTo>
                <a:moveTo>
                  <a:pt x="2857500" y="0"/>
                </a:moveTo>
                <a:lnTo>
                  <a:pt x="2857500" y="2857500"/>
                </a:lnTo>
              </a:path>
            </a:pathLst>
          </a:custGeom>
          <a:noFill/>
          <a:ln w="76200" cap="rnd">
            <a:solidFill>
              <a:srgbClr val="0066CC"/>
            </a:solidFill>
          </a:ln>
        </p:spPr>
      </p:sp>
      <p:sp>
        <p:nvSpPr>
          <p:cNvPr id="6" name="Ellipse 6"/>
          <p:cNvSpPr/>
          <p:nvPr/>
        </p:nvSpPr>
        <p:spPr>
          <a:xfrm>
            <a:off x="2762250" y="2286000"/>
            <a:ext cx="190500" cy="1905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4191000" y="1809750"/>
            <a:ext cx="190500" cy="1905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2762250" y="5143500"/>
            <a:ext cx="190500" cy="1905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7010400" y="1143000"/>
            <a:ext cx="4724400" cy="23622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225665" y="1410652"/>
            <a:ext cx="19830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ПРИОРИТЕТ И СВЯЗАННОСТЬ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27570" y="1731645"/>
            <a:ext cx="409108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Приоритет общественному транспорту через развитие сети БРТ.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227570" y="2036445"/>
            <a:ext cx="36901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Связанность линий для сокращения интервалов движения.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010400" y="3733800"/>
            <a:ext cx="4724400" cy="26670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225665" y="4001452"/>
            <a:ext cx="5580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ЭФФЕКТ</a:t>
            </a:r>
          </a:p>
        </p:txBody>
      </p:sp>
      <p:sp>
        <p:nvSpPr>
          <p:cNvPr id="15" name="Ellipse 15"/>
          <p:cNvSpPr/>
          <p:nvPr/>
        </p:nvSpPr>
        <p:spPr>
          <a:xfrm>
            <a:off x="7429500" y="4667250"/>
            <a:ext cx="571500" cy="57150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7520940" y="48348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🕒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13602" y="5405438"/>
            <a:ext cx="9555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Экономия времени</a:t>
            </a:r>
          </a:p>
        </p:txBody>
      </p:sp>
      <p:sp>
        <p:nvSpPr>
          <p:cNvPr id="18" name="Ellipse 18"/>
          <p:cNvSpPr/>
          <p:nvPr/>
        </p:nvSpPr>
        <p:spPr>
          <a:xfrm>
            <a:off x="9077325" y="4667250"/>
            <a:ext cx="571500" cy="57150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9197340" y="48348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🚌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74311" y="5405438"/>
            <a:ext cx="119657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Рост пассажиропотока</a:t>
            </a:r>
          </a:p>
        </p:txBody>
      </p:sp>
      <p:sp>
        <p:nvSpPr>
          <p:cNvPr id="21" name="Ellipse 21"/>
          <p:cNvSpPr/>
          <p:nvPr/>
        </p:nvSpPr>
        <p:spPr>
          <a:xfrm>
            <a:off x="10725150" y="4667250"/>
            <a:ext cx="571500" cy="57150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0873740" y="48348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📈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525125" y="5405438"/>
            <a:ext cx="89535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Надежность сети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34340" y="643890"/>
            <a:ext cx="5386988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РАЗВИТИЕ МИКРОМОБИЛЬНОСТИ К 2026 ГОДУ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371600"/>
            <a:ext cx="3429000" cy="21336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43890" y="1548765"/>
            <a:ext cx="1348978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55 км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2465" y="21726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Новых велополос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74370" y="2493645"/>
            <a:ext cx="478116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Расширение сети безопасных маршрутов для передвижения на велосипедах.</a:t>
            </a:r>
          </a:p>
        </p:txBody>
      </p:sp>
      <p:sp>
        <p:nvSpPr>
          <p:cNvPr id="8" name="Freeform 8"/>
          <p:cNvSpPr/>
          <p:nvPr/>
        </p:nvSpPr>
        <p:spPr>
          <a:xfrm>
            <a:off x="676275" y="2952750"/>
            <a:ext cx="276225" cy="95250"/>
          </a:xfrm>
          <a:custGeom>
            <a:avLst/>
            <a:gdLst/>
            <a:ahLst/>
            <a:cxnLst/>
            <a:rect l="l" t="t" r="r" b="b"/>
            <a:pathLst>
              <a:path w="276225" h="95250">
                <a:moveTo>
                  <a:pt x="0" y="0"/>
                </a:moveTo>
                <a:lnTo>
                  <a:pt x="276225" y="0"/>
                </a:lnTo>
                <a:moveTo>
                  <a:pt x="0" y="95250"/>
                </a:moveTo>
                <a:lnTo>
                  <a:pt x="180975" y="95250"/>
                </a:lnTo>
              </a:path>
            </a:pathLst>
          </a:custGeom>
          <a:solidFill>
            <a:srgbClr val="000000"/>
          </a:solidFill>
          <a:ln w="38100" cap="rnd">
            <a:solidFill>
              <a:srgbClr val="0066CC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4419600" y="1371600"/>
            <a:ext cx="3429000" cy="21336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4530090" y="1548765"/>
            <a:ext cx="918824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200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58665" y="2172652"/>
            <a:ext cx="149195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Парковочных хабов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560570" y="2493645"/>
            <a:ext cx="42685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Специализированные зоны для упорядоченной парковки самокатов.</a:t>
            </a:r>
          </a:p>
        </p:txBody>
      </p:sp>
      <p:sp>
        <p:nvSpPr>
          <p:cNvPr id="13" name="Ellipse 13"/>
          <p:cNvSpPr/>
          <p:nvPr/>
        </p:nvSpPr>
        <p:spPr>
          <a:xfrm>
            <a:off x="4591050" y="2924175"/>
            <a:ext cx="152400" cy="152400"/>
          </a:xfrm>
          <a:prstGeom prst="ellipse">
            <a:avLst/>
          </a:prstGeom>
          <a:noFill/>
          <a:ln w="19050">
            <a:solidFill>
              <a:srgbClr val="0066CC"/>
            </a:solidFill>
          </a:ln>
        </p:spPr>
      </p:sp>
      <p:sp>
        <p:nvSpPr>
          <p:cNvPr id="14" name="Ellipse 14"/>
          <p:cNvSpPr/>
          <p:nvPr/>
        </p:nvSpPr>
        <p:spPr>
          <a:xfrm>
            <a:off x="4781550" y="2924175"/>
            <a:ext cx="152400" cy="152400"/>
          </a:xfrm>
          <a:prstGeom prst="ellipse">
            <a:avLst/>
          </a:prstGeom>
          <a:noFill/>
          <a:ln w="19050">
            <a:solidFill>
              <a:srgbClr val="0066CC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8305800" y="1371600"/>
            <a:ext cx="3429000" cy="21336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521065" y="1563052"/>
            <a:ext cx="18461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Цифровизация контроля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22970" y="1884045"/>
            <a:ext cx="51820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Внедрение систем мониторинга и оперативной обратной связи от пользователей.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543925" y="2381250"/>
            <a:ext cx="381000" cy="381000"/>
          </a:xfrm>
          <a:prstGeom prst="rect">
            <a:avLst/>
          </a:prstGeom>
          <a:solidFill>
            <a:srgbClr val="E1EFFF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8639175" y="2476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0"/>
                </a:lnTo>
                <a:moveTo>
                  <a:pt x="0" y="95250"/>
                </a:moveTo>
                <a:lnTo>
                  <a:pt x="190500" y="95250"/>
                </a:lnTo>
                <a:moveTo>
                  <a:pt x="0" y="190500"/>
                </a:moveTo>
                <a:lnTo>
                  <a:pt x="95250" y="190500"/>
                </a:lnTo>
              </a:path>
            </a:pathLst>
          </a:custGeom>
          <a:solidFill>
            <a:srgbClr val="000000"/>
          </a:solidFill>
          <a:ln w="19050" cap="rnd">
            <a:solidFill>
              <a:srgbClr val="0066CC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447675" y="6329362"/>
            <a:ext cx="359544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Слайд 2 | Стратегический план развития городской инфраструктуры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
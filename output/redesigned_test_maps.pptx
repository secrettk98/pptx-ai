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3" name="TextBox 3"/>
          <p:cNvSpPr txBox="1"/>
          <p:nvPr/>
        </p:nvSpPr>
        <p:spPr>
          <a:xfrm>
            <a:off x="434340" y="643890"/>
            <a:ext cx="591145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КРИТИЧЕСКИЙ ДЕФИЦИТ ТРАНСПОРТНОГО ОХВАТА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143000"/>
            <a:ext cx="3352800" cy="1447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5" name="TextBox 5"/>
          <p:cNvSpPr txBox="1"/>
          <p:nvPr/>
        </p:nvSpPr>
        <p:spPr>
          <a:xfrm>
            <a:off x="643890" y="1320165"/>
            <a:ext cx="1905648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85 000+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2465" y="1867852"/>
            <a:ext cx="2876726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жителей пригорода не имеют доступа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2465" y="2096452"/>
            <a:ext cx="2248748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к общественному транспорту</a:t>
            </a:r>
          </a:p>
        </p:txBody>
      </p:sp>
      <p:sp>
        <p:nvSpPr>
          <p:cNvPr id="8" name="Rectangle 8"/>
          <p:cNvSpPr/>
          <p:nvPr/>
        </p:nvSpPr>
        <p:spPr>
          <a:xfrm>
            <a:off x="457200" y="2743200"/>
            <a:ext cx="3352800" cy="762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9" name="TextBox 9"/>
          <p:cNvSpPr txBox="1"/>
          <p:nvPr/>
        </p:nvSpPr>
        <p:spPr>
          <a:xfrm>
            <a:off x="672465" y="2934652"/>
            <a:ext cx="2699604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Интеграция 16 населенных пунктов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4370" y="3103245"/>
            <a:ext cx="2421731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Необходима интеграция в единую сеть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191000" y="1143000"/>
            <a:ext cx="7543800" cy="47244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2" name="Freeform 12"/>
          <p:cNvSpPr/>
          <p:nvPr/>
        </p:nvSpPr>
        <p:spPr>
          <a:xfrm>
            <a:off x="4762500" y="1587500"/>
            <a:ext cx="5715000" cy="2222500"/>
          </a:xfrm>
          <a:custGeom>
            <a:avLst/>
            <a:gdLst/>
            <a:ahLst/>
            <a:cxnLst/>
            <a:rect l="l" t="t" r="r" b="b"/>
            <a:pathLst>
              <a:path w="5715000" h="2222500">
                <a:moveTo>
                  <a:pt x="0" y="317500"/>
                </a:moveTo>
                <a:cubicBezTo>
                  <a:pt x="635000" y="0"/>
                  <a:pt x="1270000" y="158750"/>
                  <a:pt x="1905000" y="793750"/>
                </a:cubicBezTo>
                <a:cubicBezTo>
                  <a:pt x="2540000" y="1428750"/>
                  <a:pt x="3175000" y="1587500"/>
                  <a:pt x="3810000" y="1270000"/>
                </a:cubicBezTo>
                <a:cubicBezTo>
                  <a:pt x="4445000" y="952500"/>
                  <a:pt x="5080000" y="1270000"/>
                  <a:pt x="5715000" y="2222500"/>
                </a:cubicBezTo>
              </a:path>
            </a:pathLst>
          </a:custGeom>
          <a:noFill/>
          <a:ln w="19050">
            <a:solidFill>
              <a:srgbClr val="CCCCCC"/>
            </a:solidFill>
          </a:ln>
        </p:spPr>
        <p:txBody>
          <a:bodyPr lIns="0" rIns="0" tIns="0" bIns="0" wrap="square"/>
          <a:p/>
        </p:txBody>
      </p:sp>
      <p:sp>
        <p:nvSpPr>
          <p:cNvPr id="13" name="Ellipse 13"/>
          <p:cNvSpPr/>
          <p:nvPr/>
        </p:nvSpPr>
        <p:spPr>
          <a:xfrm>
            <a:off x="5429250" y="2095500"/>
            <a:ext cx="1524000" cy="1524000"/>
          </a:xfrm>
          <a:prstGeom prst="ellipse">
            <a:avLst/>
          </a:prstGeom>
          <a:solidFill>
            <a:srgbClr val="28A745">
              <a:alpha val="60000"/>
            </a:srgbClr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4" name="Ellipse 14"/>
          <p:cNvSpPr/>
          <p:nvPr/>
        </p:nvSpPr>
        <p:spPr>
          <a:xfrm>
            <a:off x="7429500" y="2667000"/>
            <a:ext cx="2286000" cy="2286000"/>
          </a:xfrm>
          <a:prstGeom prst="ellipse">
            <a:avLst/>
          </a:prstGeom>
          <a:solidFill>
            <a:srgbClr val="DC3545">
              <a:alpha val="60000"/>
            </a:srgbClr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5" name="Ellipse 15"/>
          <p:cNvSpPr/>
          <p:nvPr/>
        </p:nvSpPr>
        <p:spPr>
          <a:xfrm>
            <a:off x="7620000" y="1905000"/>
            <a:ext cx="952500" cy="952500"/>
          </a:xfrm>
          <a:prstGeom prst="ellipse">
            <a:avLst/>
          </a:prstGeom>
          <a:solidFill>
            <a:srgbClr val="DC3545">
              <a:alpha val="60000"/>
            </a:srgbClr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6" name="Rectangle 16"/>
          <p:cNvSpPr/>
          <p:nvPr/>
        </p:nvSpPr>
        <p:spPr>
          <a:xfrm>
            <a:off x="4381500" y="5334000"/>
            <a:ext cx="1905000" cy="38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7" name="Ellipse 17"/>
          <p:cNvSpPr/>
          <p:nvPr/>
        </p:nvSpPr>
        <p:spPr>
          <a:xfrm>
            <a:off x="4495800" y="5448300"/>
            <a:ext cx="152400" cy="1524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8" name="TextBox 18"/>
          <p:cNvSpPr txBox="1"/>
          <p:nvPr/>
        </p:nvSpPr>
        <p:spPr>
          <a:xfrm>
            <a:off x="4714875" y="5481638"/>
            <a:ext cx="501015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Охвачено</a:t>
            </a:r>
          </a:p>
        </p:txBody>
      </p:sp>
      <p:sp>
        <p:nvSpPr>
          <p:cNvPr id="19" name="Ellipse 19"/>
          <p:cNvSpPr/>
          <p:nvPr/>
        </p:nvSpPr>
        <p:spPr>
          <a:xfrm>
            <a:off x="5257800" y="5448300"/>
            <a:ext cx="152400" cy="15240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20" name="TextBox 20"/>
          <p:cNvSpPr txBox="1"/>
          <p:nvPr/>
        </p:nvSpPr>
        <p:spPr>
          <a:xfrm>
            <a:off x="5476875" y="5481638"/>
            <a:ext cx="440769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Дефицит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47675" y="6329362"/>
            <a:ext cx="3891201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Визуализация плотности населения и транспортной доступности региона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3" name="TextBox 3"/>
          <p:cNvSpPr txBox="1"/>
          <p:nvPr/>
        </p:nvSpPr>
        <p:spPr>
          <a:xfrm>
            <a:off x="434340" y="643890"/>
            <a:ext cx="553880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СОЗДАНИЕ НЕПРЕРЫВНОГО КАРКАСА BUS LANE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143000"/>
            <a:ext cx="6172200" cy="5257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5" name="Freeform 5"/>
          <p:cNvSpPr/>
          <p:nvPr/>
        </p:nvSpPr>
        <p:spPr>
          <a:xfrm>
            <a:off x="1428750" y="1905000"/>
            <a:ext cx="4286250" cy="3333750"/>
          </a:xfrm>
          <a:custGeom>
            <a:avLst/>
            <a:gdLst/>
            <a:ahLst/>
            <a:cxnLst/>
            <a:rect l="l" t="t" r="r" b="b"/>
            <a:pathLst>
              <a:path w="4286250" h="3333750">
                <a:moveTo>
                  <a:pt x="0" y="0"/>
                </a:moveTo>
                <a:lnTo>
                  <a:pt x="1428750" y="476250"/>
                </a:lnTo>
                <a:lnTo>
                  <a:pt x="2857500" y="0"/>
                </a:lnTo>
                <a:lnTo>
                  <a:pt x="4286250" y="1428750"/>
                </a:lnTo>
                <a:moveTo>
                  <a:pt x="1428750" y="476250"/>
                </a:moveTo>
                <a:lnTo>
                  <a:pt x="1428750" y="3333750"/>
                </a:lnTo>
                <a:moveTo>
                  <a:pt x="2857500" y="0"/>
                </a:moveTo>
                <a:lnTo>
                  <a:pt x="2857500" y="2857500"/>
                </a:lnTo>
              </a:path>
            </a:pathLst>
          </a:custGeom>
          <a:noFill/>
          <a:ln w="76200" cap="rnd">
            <a:solidFill>
              <a:srgbClr val="0066CC"/>
            </a:solidFill>
          </a:ln>
        </p:spPr>
        <p:txBody>
          <a:bodyPr lIns="0" rIns="0" tIns="0" bIns="0" wrap="square"/>
          <a:p/>
        </p:txBody>
      </p:sp>
      <p:sp>
        <p:nvSpPr>
          <p:cNvPr id="6" name="Ellipse 6"/>
          <p:cNvSpPr/>
          <p:nvPr/>
        </p:nvSpPr>
        <p:spPr>
          <a:xfrm>
            <a:off x="2762250" y="228600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7" name="Ellipse 7"/>
          <p:cNvSpPr/>
          <p:nvPr/>
        </p:nvSpPr>
        <p:spPr>
          <a:xfrm>
            <a:off x="4191000" y="180975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8" name="Ellipse 8"/>
          <p:cNvSpPr/>
          <p:nvPr/>
        </p:nvSpPr>
        <p:spPr>
          <a:xfrm>
            <a:off x="2762250" y="5143500"/>
            <a:ext cx="190500" cy="1905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9" name="Rectangle 9"/>
          <p:cNvSpPr/>
          <p:nvPr/>
        </p:nvSpPr>
        <p:spPr>
          <a:xfrm>
            <a:off x="7010400" y="1143000"/>
            <a:ext cx="4724400" cy="23622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0" name="TextBox 10"/>
          <p:cNvSpPr txBox="1"/>
          <p:nvPr/>
        </p:nvSpPr>
        <p:spPr>
          <a:xfrm>
            <a:off x="7225665" y="1410652"/>
            <a:ext cx="1983065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ПРИОРИТЕТ И СВЯЗАННОСТЬ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27570" y="1731645"/>
            <a:ext cx="409108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Приоритет общественному транспорту через развитие сети БРТ.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27570" y="2036445"/>
            <a:ext cx="369017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Связанность линий для сокращения интервалов движения.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010400" y="3733800"/>
            <a:ext cx="4724400" cy="2667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4" name="TextBox 14"/>
          <p:cNvSpPr txBox="1"/>
          <p:nvPr/>
        </p:nvSpPr>
        <p:spPr>
          <a:xfrm>
            <a:off x="7225665" y="4001452"/>
            <a:ext cx="558036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ЭФФЕКТ</a:t>
            </a:r>
          </a:p>
        </p:txBody>
      </p:sp>
      <p:sp>
        <p:nvSpPr>
          <p:cNvPr id="15" name="Ellipse 15"/>
          <p:cNvSpPr/>
          <p:nvPr/>
        </p:nvSpPr>
        <p:spPr>
          <a:xfrm>
            <a:off x="7429500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6" name="TextBox 16"/>
          <p:cNvSpPr txBox="1"/>
          <p:nvPr/>
        </p:nvSpPr>
        <p:spPr>
          <a:xfrm>
            <a:off x="75209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🕒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13602" y="5405438"/>
            <a:ext cx="95559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Экономия времени</a:t>
            </a:r>
          </a:p>
        </p:txBody>
      </p:sp>
      <p:sp>
        <p:nvSpPr>
          <p:cNvPr id="18" name="Ellipse 18"/>
          <p:cNvSpPr/>
          <p:nvPr/>
        </p:nvSpPr>
        <p:spPr>
          <a:xfrm>
            <a:off x="9077325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9" name="TextBox 19"/>
          <p:cNvSpPr txBox="1"/>
          <p:nvPr/>
        </p:nvSpPr>
        <p:spPr>
          <a:xfrm>
            <a:off x="91973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🚌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74311" y="5405438"/>
            <a:ext cx="1196578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Рост пассажиропотока</a:t>
            </a:r>
          </a:p>
        </p:txBody>
      </p:sp>
      <p:sp>
        <p:nvSpPr>
          <p:cNvPr id="21" name="Ellipse 21"/>
          <p:cNvSpPr/>
          <p:nvPr/>
        </p:nvSpPr>
        <p:spPr>
          <a:xfrm>
            <a:off x="10725150" y="4667250"/>
            <a:ext cx="571500" cy="57150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22" name="TextBox 22"/>
          <p:cNvSpPr txBox="1"/>
          <p:nvPr/>
        </p:nvSpPr>
        <p:spPr>
          <a:xfrm>
            <a:off x="10873740" y="48348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📈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25125" y="5405438"/>
            <a:ext cx="8953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Надежность сети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3" name="TextBox 3"/>
          <p:cNvSpPr txBox="1"/>
          <p:nvPr/>
        </p:nvSpPr>
        <p:spPr>
          <a:xfrm>
            <a:off x="434340" y="643890"/>
            <a:ext cx="53869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РАЗВИТИЕ МИКРОМОБИЛЬНОСТИ К 2026 ГОДУ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371600"/>
            <a:ext cx="3429000" cy="21336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5" name="TextBox 5"/>
          <p:cNvSpPr txBox="1"/>
          <p:nvPr/>
        </p:nvSpPr>
        <p:spPr>
          <a:xfrm>
            <a:off x="643890" y="1548765"/>
            <a:ext cx="1348978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55 км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2465" y="21726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Новых велополос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4370" y="2493645"/>
            <a:ext cx="4781169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Расширение сети безопасных маршрутов для передвижения на велосипедах.</a:t>
            </a:r>
          </a:p>
        </p:txBody>
      </p:sp>
      <p:sp>
        <p:nvSpPr>
          <p:cNvPr id="8" name="Freeform 8"/>
          <p:cNvSpPr/>
          <p:nvPr/>
        </p:nvSpPr>
        <p:spPr>
          <a:xfrm>
            <a:off x="676275" y="2952750"/>
            <a:ext cx="276225" cy="95250"/>
          </a:xfrm>
          <a:custGeom>
            <a:avLst/>
            <a:gdLst/>
            <a:ahLst/>
            <a:cxnLst/>
            <a:rect l="l" t="t" r="r" b="b"/>
            <a:pathLst>
              <a:path w="276225" h="95250">
                <a:moveTo>
                  <a:pt x="0" y="0"/>
                </a:moveTo>
                <a:lnTo>
                  <a:pt x="276225" y="0"/>
                </a:lnTo>
                <a:moveTo>
                  <a:pt x="0" y="95250"/>
                </a:moveTo>
                <a:lnTo>
                  <a:pt x="180975" y="95250"/>
                </a:lnTo>
              </a:path>
            </a:pathLst>
          </a:custGeom>
          <a:solidFill>
            <a:srgbClr val="000000"/>
          </a:solidFill>
          <a:ln w="38100" cap="rnd">
            <a:solidFill>
              <a:srgbClr val="0066CC"/>
            </a:solidFill>
          </a:ln>
        </p:spPr>
        <p:txBody>
          <a:bodyPr lIns="0" rIns="0" tIns="0" bIns="0" wrap="square"/>
          <a:p/>
        </p:txBody>
      </p:sp>
      <p:sp>
        <p:nvSpPr>
          <p:cNvPr id="9" name="Rectangle 9"/>
          <p:cNvSpPr/>
          <p:nvPr/>
        </p:nvSpPr>
        <p:spPr>
          <a:xfrm>
            <a:off x="4419600" y="1371600"/>
            <a:ext cx="3429000" cy="21336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0" name="TextBox 10"/>
          <p:cNvSpPr txBox="1"/>
          <p:nvPr/>
        </p:nvSpPr>
        <p:spPr>
          <a:xfrm>
            <a:off x="4530090" y="1548765"/>
            <a:ext cx="918824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200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58665" y="2172652"/>
            <a:ext cx="1491953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Парковочных хабов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560570" y="2493645"/>
            <a:ext cx="426853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Специализированные зоны для упорядоченной парковки самокатов.</a:t>
            </a:r>
          </a:p>
        </p:txBody>
      </p:sp>
      <p:sp>
        <p:nvSpPr>
          <p:cNvPr id="13" name="Ellipse 13"/>
          <p:cNvSpPr/>
          <p:nvPr/>
        </p:nvSpPr>
        <p:spPr>
          <a:xfrm>
            <a:off x="4591050" y="2924175"/>
            <a:ext cx="152400" cy="152400"/>
          </a:xfrm>
          <a:prstGeom prst="ellipse">
            <a:avLst/>
          </a:prstGeom>
          <a:noFill/>
          <a:ln w="19050">
            <a:solidFill>
              <a:srgbClr val="0066CC"/>
            </a:solidFill>
          </a:ln>
        </p:spPr>
        <p:txBody>
          <a:bodyPr lIns="0" rIns="0" tIns="0" bIns="0" wrap="square"/>
          <a:p/>
        </p:txBody>
      </p:sp>
      <p:sp>
        <p:nvSpPr>
          <p:cNvPr id="14" name="Ellipse 14"/>
          <p:cNvSpPr/>
          <p:nvPr/>
        </p:nvSpPr>
        <p:spPr>
          <a:xfrm>
            <a:off x="4781550" y="2924175"/>
            <a:ext cx="152400" cy="152400"/>
          </a:xfrm>
          <a:prstGeom prst="ellipse">
            <a:avLst/>
          </a:prstGeom>
          <a:noFill/>
          <a:ln w="19050">
            <a:solidFill>
              <a:srgbClr val="0066CC"/>
            </a:solidFill>
          </a:ln>
        </p:spPr>
        <p:txBody>
          <a:bodyPr lIns="0" rIns="0" tIns="0" bIns="0" wrap="square"/>
          <a:p/>
        </p:txBody>
      </p:sp>
      <p:sp>
        <p:nvSpPr>
          <p:cNvPr id="15" name="Rectangle 15"/>
          <p:cNvSpPr/>
          <p:nvPr/>
        </p:nvSpPr>
        <p:spPr>
          <a:xfrm>
            <a:off x="8305800" y="1371600"/>
            <a:ext cx="3429000" cy="21336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6" name="TextBox 16"/>
          <p:cNvSpPr txBox="1"/>
          <p:nvPr/>
        </p:nvSpPr>
        <p:spPr>
          <a:xfrm>
            <a:off x="8521065" y="1563052"/>
            <a:ext cx="1846197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Цифровизация контроля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22970" y="1884045"/>
            <a:ext cx="518207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Внедрение систем мониторинга и оперативной обратной связи от пользователей.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543925" y="2381250"/>
            <a:ext cx="381000" cy="381000"/>
          </a:xfrm>
          <a:prstGeom prst="roundRect">
            <a:avLst>
              <a:gd name="adj" fmla="val 5000"/>
            </a:avLst>
          </a:prstGeom>
          <a:solidFill>
            <a:srgbClr val="E1EFFF"/>
          </a:solidFill>
          <a:ln>
            <a:noFill/>
          </a:ln>
        </p:spPr>
        <p:txBody>
          <a:bodyPr lIns="0" rIns="0" tIns="0" bIns="0" wrap="square"/>
          <a:p/>
        </p:txBody>
      </p:sp>
      <p:sp>
        <p:nvSpPr>
          <p:cNvPr id="19" name="Freeform 19"/>
          <p:cNvSpPr/>
          <p:nvPr/>
        </p:nvSpPr>
        <p:spPr>
          <a:xfrm>
            <a:off x="8639175" y="2476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0"/>
                </a:lnTo>
                <a:moveTo>
                  <a:pt x="0" y="95250"/>
                </a:moveTo>
                <a:lnTo>
                  <a:pt x="190500" y="95250"/>
                </a:lnTo>
                <a:moveTo>
                  <a:pt x="0" y="190500"/>
                </a:moveTo>
                <a:lnTo>
                  <a:pt x="95250" y="190500"/>
                </a:lnTo>
              </a:path>
            </a:pathLst>
          </a:custGeom>
          <a:solidFill>
            <a:srgbClr val="000000"/>
          </a:solidFill>
          <a:ln w="19050" cap="rnd">
            <a:solidFill>
              <a:srgbClr val="0066CC"/>
            </a:solidFill>
          </a:ln>
        </p:spPr>
        <p:txBody>
          <a:bodyPr lIns="0" rIns="0" tIns="0" bIns="0" wrap="square"/>
          <a:p/>
        </p:txBody>
      </p:sp>
      <p:sp>
        <p:nvSpPr>
          <p:cNvPr id="20" name="TextBox 20"/>
          <p:cNvSpPr txBox="1"/>
          <p:nvPr/>
        </p:nvSpPr>
        <p:spPr>
          <a:xfrm>
            <a:off x="447675" y="6329362"/>
            <a:ext cx="3595449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Слайд 2 | Стратегический план развития городской инфраструктуры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